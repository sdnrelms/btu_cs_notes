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</p:sldIdLst>
  <p:sldSz cy="5143500" cx="9144000"/>
  <p:notesSz cx="6858000" cy="9144000"/>
  <p:embeddedFontLst>
    <p:embeddedFont>
      <p:font typeface="PT Sans Narrow"/>
      <p:regular r:id="rId20"/>
      <p:bold r:id="rId21"/>
    </p:embeddedFont>
    <p:embeddedFont>
      <p:font typeface="Open Sans"/>
      <p:regular r:id="rId22"/>
      <p:bold r:id="rId23"/>
      <p:italic r:id="rId24"/>
      <p:boldItalic r:id="rId25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PTSansNarrow-regular.fntdata"/><Relationship Id="rId22" Type="http://schemas.openxmlformats.org/officeDocument/2006/relationships/font" Target="fonts/OpenSans-regular.fntdata"/><Relationship Id="rId21" Type="http://schemas.openxmlformats.org/officeDocument/2006/relationships/font" Target="fonts/PTSansNarrow-bold.fntdata"/><Relationship Id="rId24" Type="http://schemas.openxmlformats.org/officeDocument/2006/relationships/font" Target="fonts/OpenSans-italic.fntdata"/><Relationship Id="rId23" Type="http://schemas.openxmlformats.org/officeDocument/2006/relationships/font" Target="fonts/OpenSans-bold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5" Type="http://schemas.openxmlformats.org/officeDocument/2006/relationships/font" Target="fonts/OpenSans-boldItalic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" name="Google Shape;64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g3990018c2c5_1_1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0" name="Google Shape;70;g3990018c2c5_1_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g39f88ae9acf_0_5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6" name="Google Shape;76;g39f88ae9acf_0_5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g3990018c2c5_1_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2" name="Google Shape;82;g3990018c2c5_1_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g3990018c2c5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8" name="Google Shape;88;g3990018c2c5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g3990018c2c5_0_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4" name="Google Shape;94;g3990018c2c5_0_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g3990018c2c5_0_1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0" name="Google Shape;100;g3990018c2c5_0_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g3990018c2c5_1_2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6" name="Google Shape;106;g3990018c2c5_1_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tr"/>
              <a:t>int21h- interrupt yapıp dos komutunu alır. </a:t>
            </a:r>
            <a:br>
              <a:rPr lang="tr"/>
            </a:br>
            <a:r>
              <a:rPr lang="tr"/>
              <a:t>AH 02 olunca ekrana yazma prosedürü devreye giriyor. </a:t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g3990018c2c5_1_4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2" name="Google Shape;112;g3990018c2c5_1_4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g3990018c2c5_0_2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8" name="Google Shape;118;g3990018c2c5_0_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tr"/>
              <a:t>mov ax 7100 B8 5 sayısı bir sonraki 7101 de yer alıyor. ax 16 bitlik bir register olduğu için 7102 high olacağı için 0000 lar yazılıyor. </a:t>
            </a:r>
            <a:r>
              <a:rPr i="1" lang="tr"/>
              <a:t>00</a:t>
            </a:r>
            <a:r>
              <a:rPr lang="tr"/>
              <a:t> </a:t>
            </a:r>
            <a:r>
              <a:rPr b="1" lang="tr"/>
              <a:t>05</a:t>
            </a:r>
            <a:r>
              <a:rPr lang="tr"/>
              <a:t> H</a:t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g3990018c2c5_1_5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4" name="Google Shape;124;g3990018c2c5_1_5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tr"/>
              <a:t>mov ax 7100 B8 5 sayısı bir sonraki 7101 de yer alıyor. ax 16 bitlik bir register olduğu için 7102 high olacağı için 0000 lar yazılıyor. </a:t>
            </a:r>
            <a:r>
              <a:rPr i="1" lang="tr"/>
              <a:t>00</a:t>
            </a:r>
            <a:r>
              <a:rPr lang="tr"/>
              <a:t> </a:t>
            </a:r>
            <a:r>
              <a:rPr b="1" lang="tr"/>
              <a:t>05</a:t>
            </a:r>
            <a:r>
              <a:rPr lang="tr"/>
              <a:t> H</a:t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g3990018c2c5_1_6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0" name="Google Shape;130;g3990018c2c5_1_6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tr"/>
              <a:t>mov ax 7100 B8 5 sayısı bir sonraki 7101 de yer alıyor. ax 16 bitlik bir register olduğu için 7102 high olacağı için 0000 lar yazılıyor. </a:t>
            </a:r>
            <a:r>
              <a:rPr i="1" lang="tr"/>
              <a:t>00</a:t>
            </a:r>
            <a:r>
              <a:rPr lang="tr"/>
              <a:t> </a:t>
            </a:r>
            <a:r>
              <a:rPr b="1" lang="tr"/>
              <a:t>05</a:t>
            </a:r>
            <a:r>
              <a:rPr lang="tr"/>
              <a:t> H</a:t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g3990018c2c5_1_3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6" name="Google Shape;136;g3990018c2c5_1_3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g3990018c2c5_1_4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2" name="Google Shape;142;g3990018c2c5_1_4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0" name="Google Shape;10;p2"/>
          <p:cNvCxnSpPr/>
          <p:nvPr/>
        </p:nvCxnSpPr>
        <p:spPr>
          <a:xfrm>
            <a:off x="7007735" y="3176888"/>
            <a:ext cx="562200" cy="0"/>
          </a:xfrm>
          <a:prstGeom prst="straightConnector1">
            <a:avLst/>
          </a:prstGeom>
          <a:noFill/>
          <a:ln cap="flat" cmpd="sng" w="7620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1" name="Google Shape;11;p2"/>
          <p:cNvCxnSpPr/>
          <p:nvPr/>
        </p:nvCxnSpPr>
        <p:spPr>
          <a:xfrm>
            <a:off x="1575035" y="3158252"/>
            <a:ext cx="562200" cy="0"/>
          </a:xfrm>
          <a:prstGeom prst="straightConnector1">
            <a:avLst/>
          </a:prstGeom>
          <a:noFill/>
          <a:ln cap="flat" cmpd="sng" w="7620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</p:cxnSp>
      <p:grpSp>
        <p:nvGrpSpPr>
          <p:cNvPr id="12" name="Google Shape;12;p2"/>
          <p:cNvGrpSpPr/>
          <p:nvPr/>
        </p:nvGrpSpPr>
        <p:grpSpPr>
          <a:xfrm>
            <a:off x="1004144" y="1022025"/>
            <a:ext cx="7136668" cy="152400"/>
            <a:chOff x="1346429" y="1011300"/>
            <a:chExt cx="6452100" cy="152400"/>
          </a:xfrm>
        </p:grpSpPr>
        <p:cxnSp>
          <p:nvCxnSpPr>
            <p:cNvPr id="13" name="Google Shape;13;p2"/>
            <p:cNvCxnSpPr/>
            <p:nvPr/>
          </p:nvCxnSpPr>
          <p:spPr>
            <a:xfrm rot="10800000">
              <a:off x="1346429" y="1011300"/>
              <a:ext cx="6452100" cy="0"/>
            </a:xfrm>
            <a:prstGeom prst="straightConnector1">
              <a:avLst/>
            </a:prstGeom>
            <a:noFill/>
            <a:ln cap="flat" cmpd="sng" w="7620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4" name="Google Shape;14;p2"/>
            <p:cNvCxnSpPr/>
            <p:nvPr/>
          </p:nvCxnSpPr>
          <p:spPr>
            <a:xfrm rot="10800000">
              <a:off x="1346429" y="1163700"/>
              <a:ext cx="6452100" cy="0"/>
            </a:xfrm>
            <a:prstGeom prst="straightConnector1">
              <a:avLst/>
            </a:prstGeom>
            <a:noFill/>
            <a:ln cap="flat" cmpd="sng" w="9525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grpSp>
        <p:nvGrpSpPr>
          <p:cNvPr id="15" name="Google Shape;15;p2"/>
          <p:cNvGrpSpPr/>
          <p:nvPr/>
        </p:nvGrpSpPr>
        <p:grpSpPr>
          <a:xfrm>
            <a:off x="1004151" y="3969100"/>
            <a:ext cx="7136668" cy="152400"/>
            <a:chOff x="1346435" y="3969088"/>
            <a:chExt cx="6452100" cy="152400"/>
          </a:xfrm>
        </p:grpSpPr>
        <p:cxnSp>
          <p:nvCxnSpPr>
            <p:cNvPr id="16" name="Google Shape;16;p2"/>
            <p:cNvCxnSpPr/>
            <p:nvPr/>
          </p:nvCxnSpPr>
          <p:spPr>
            <a:xfrm>
              <a:off x="1346435" y="4121488"/>
              <a:ext cx="6452100" cy="0"/>
            </a:xfrm>
            <a:prstGeom prst="straightConnector1">
              <a:avLst/>
            </a:prstGeom>
            <a:noFill/>
            <a:ln cap="flat" cmpd="sng" w="7620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7" name="Google Shape;17;p2"/>
            <p:cNvCxnSpPr/>
            <p:nvPr/>
          </p:nvCxnSpPr>
          <p:spPr>
            <a:xfrm>
              <a:off x="1346435" y="3969088"/>
              <a:ext cx="6452100" cy="0"/>
            </a:xfrm>
            <a:prstGeom prst="straightConnector1">
              <a:avLst/>
            </a:prstGeom>
            <a:noFill/>
            <a:ln cap="flat" cmpd="sng" w="9525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sp>
        <p:nvSpPr>
          <p:cNvPr id="18" name="Google Shape;18;p2"/>
          <p:cNvSpPr txBox="1"/>
          <p:nvPr>
            <p:ph type="ctrTitle"/>
          </p:nvPr>
        </p:nvSpPr>
        <p:spPr>
          <a:xfrm>
            <a:off x="1004150" y="1751764"/>
            <a:ext cx="7136700" cy="1022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1pPr>
            <a:lvl2pPr lvl="1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2pPr>
            <a:lvl3pPr lvl="2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3pPr>
            <a:lvl4pPr lvl="3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4pPr>
            <a:lvl5pPr lvl="4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5pPr>
            <a:lvl6pPr lvl="5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6pPr>
            <a:lvl7pPr lvl="6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7pPr>
            <a:lvl8pPr lvl="7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8pPr>
            <a:lvl9pPr lvl="8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9pPr>
          </a:lstStyle>
          <a:p/>
        </p:txBody>
      </p:sp>
      <p:sp>
        <p:nvSpPr>
          <p:cNvPr id="19" name="Google Shape;19;p2"/>
          <p:cNvSpPr txBox="1"/>
          <p:nvPr>
            <p:ph idx="1" type="subTitle"/>
          </p:nvPr>
        </p:nvSpPr>
        <p:spPr>
          <a:xfrm>
            <a:off x="2137225" y="2850039"/>
            <a:ext cx="48705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20" name="Google Shape;20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t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3"/>
          <p:cNvSpPr/>
          <p:nvPr/>
        </p:nvSpPr>
        <p:spPr>
          <a:xfrm>
            <a:off x="-50" y="2571900"/>
            <a:ext cx="9144000" cy="25716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" name="Google Shape;23;p3"/>
          <p:cNvSpPr txBox="1"/>
          <p:nvPr>
            <p:ph type="title"/>
          </p:nvPr>
        </p:nvSpPr>
        <p:spPr>
          <a:xfrm>
            <a:off x="311700" y="814800"/>
            <a:ext cx="8571300" cy="942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9pPr>
          </a:lstStyle>
          <a:p/>
        </p:txBody>
      </p:sp>
      <p:sp>
        <p:nvSpPr>
          <p:cNvPr id="24" name="Google Shape;24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t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4"/>
          <p:cNvSpPr/>
          <p:nvPr/>
        </p:nvSpPr>
        <p:spPr>
          <a:xfrm>
            <a:off x="-75" y="5045700"/>
            <a:ext cx="9144000" cy="978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" name="Google Shape;27;p4"/>
          <p:cNvSpPr txBox="1"/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9pPr>
          </a:lstStyle>
          <a:p/>
        </p:txBody>
      </p:sp>
      <p:sp>
        <p:nvSpPr>
          <p:cNvPr id="28" name="Google Shape;28;p4"/>
          <p:cNvSpPr txBox="1"/>
          <p:nvPr>
            <p:ph idx="1" type="body"/>
          </p:nvPr>
        </p:nvSpPr>
        <p:spPr>
          <a:xfrm>
            <a:off x="311700" y="1266325"/>
            <a:ext cx="8520600" cy="330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9" name="Google Shape;2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t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30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5"/>
          <p:cNvSpPr txBox="1"/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9pPr>
          </a:lstStyle>
          <a:p/>
        </p:txBody>
      </p:sp>
      <p:sp>
        <p:nvSpPr>
          <p:cNvPr id="32" name="Google Shape;32;p5"/>
          <p:cNvSpPr txBox="1"/>
          <p:nvPr>
            <p:ph idx="1" type="body"/>
          </p:nvPr>
        </p:nvSpPr>
        <p:spPr>
          <a:xfrm>
            <a:off x="311700" y="1266175"/>
            <a:ext cx="3999900" cy="330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3" name="Google Shape;33;p5"/>
          <p:cNvSpPr txBox="1"/>
          <p:nvPr>
            <p:ph idx="2" type="body"/>
          </p:nvPr>
        </p:nvSpPr>
        <p:spPr>
          <a:xfrm>
            <a:off x="4832400" y="1266175"/>
            <a:ext cx="3999900" cy="330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4" name="Google Shape;3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t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6"/>
          <p:cNvSpPr txBox="1"/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9pPr>
          </a:lstStyle>
          <a:p/>
        </p:txBody>
      </p:sp>
      <p:sp>
        <p:nvSpPr>
          <p:cNvPr id="37" name="Google Shape;3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t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40" name="Google Shape;4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41" name="Google Shape;4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t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bg>
      <p:bgPr>
        <a:solidFill>
          <a:schemeClr val="accent6"/>
        </a:solidFill>
      </p:bgPr>
    </p:bg>
    <p:spTree>
      <p:nvGrpSpPr>
        <p:cNvPr id="42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8"/>
          <p:cNvSpPr txBox="1"/>
          <p:nvPr>
            <p:ph type="title"/>
          </p:nvPr>
        </p:nvSpPr>
        <p:spPr>
          <a:xfrm>
            <a:off x="490250" y="526350"/>
            <a:ext cx="56136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400"/>
              <a:buNone/>
              <a:defRPr b="0" sz="5400"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400"/>
              <a:buNone/>
              <a:defRPr b="0" sz="5400"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400"/>
              <a:buNone/>
              <a:defRPr b="0" sz="5400"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400"/>
              <a:buNone/>
              <a:defRPr b="0" sz="5400"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400"/>
              <a:buNone/>
              <a:defRPr b="0" sz="5400"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400"/>
              <a:buNone/>
              <a:defRPr b="0" sz="5400"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400"/>
              <a:buNone/>
              <a:defRPr b="0" sz="5400"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400"/>
              <a:buNone/>
              <a:defRPr b="0" sz="5400"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400"/>
              <a:buNone/>
              <a:defRPr b="0" sz="54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44" name="Google Shape;4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t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9"/>
          <p:cNvSpPr/>
          <p:nvPr/>
        </p:nvSpPr>
        <p:spPr>
          <a:xfrm>
            <a:off x="4572000" y="0"/>
            <a:ext cx="4572000" cy="51435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47" name="Google Shape;47;p9"/>
          <p:cNvCxnSpPr/>
          <p:nvPr/>
        </p:nvCxnSpPr>
        <p:spPr>
          <a:xfrm>
            <a:off x="5029675" y="4495500"/>
            <a:ext cx="4683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8" name="Google Shape;48;p9"/>
          <p:cNvSpPr txBox="1"/>
          <p:nvPr>
            <p:ph type="title"/>
          </p:nvPr>
        </p:nvSpPr>
        <p:spPr>
          <a:xfrm>
            <a:off x="265500" y="1039675"/>
            <a:ext cx="4045200" cy="1675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49" name="Google Shape;49;p9"/>
          <p:cNvSpPr txBox="1"/>
          <p:nvPr>
            <p:ph idx="1" type="subTitle"/>
          </p:nvPr>
        </p:nvSpPr>
        <p:spPr>
          <a:xfrm>
            <a:off x="265500" y="27268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50" name="Google Shape;50;p9"/>
          <p:cNvSpPr txBox="1"/>
          <p:nvPr>
            <p:ph idx="2" type="body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  <a:defRPr>
                <a:solidFill>
                  <a:schemeClr val="lt1"/>
                </a:solidFill>
              </a:defRPr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51" name="Google Shape;51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t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10"/>
          <p:cNvSpPr txBox="1"/>
          <p:nvPr>
            <p:ph idx="1" type="body"/>
          </p:nvPr>
        </p:nvSpPr>
        <p:spPr>
          <a:xfrm>
            <a:off x="311700" y="4230725"/>
            <a:ext cx="5998800" cy="598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PT Sans Narrow"/>
              <a:buNone/>
              <a:defRPr sz="2400">
                <a:latin typeface="PT Sans Narrow"/>
                <a:ea typeface="PT Sans Narrow"/>
                <a:cs typeface="PT Sans Narrow"/>
                <a:sym typeface="PT Sans Narrow"/>
              </a:defRPr>
            </a:lvl1pPr>
          </a:lstStyle>
          <a:p/>
        </p:txBody>
      </p:sp>
      <p:sp>
        <p:nvSpPr>
          <p:cNvPr id="54" name="Google Shape;54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t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11"/>
          <p:cNvSpPr/>
          <p:nvPr/>
        </p:nvSpPr>
        <p:spPr>
          <a:xfrm>
            <a:off x="-75" y="5045700"/>
            <a:ext cx="9144000" cy="9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" name="Google Shape;57;p11"/>
          <p:cNvSpPr txBox="1"/>
          <p:nvPr>
            <p:ph hasCustomPrompt="1" type="title"/>
          </p:nvPr>
        </p:nvSpPr>
        <p:spPr>
          <a:xfrm>
            <a:off x="311700" y="1304850"/>
            <a:ext cx="8520600" cy="1538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3000"/>
              <a:buNone/>
              <a:defRPr sz="13000">
                <a:solidFill>
                  <a:schemeClr val="accent3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3000"/>
              <a:buNone/>
              <a:defRPr sz="13000">
                <a:solidFill>
                  <a:schemeClr val="accent3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3000"/>
              <a:buNone/>
              <a:defRPr sz="13000">
                <a:solidFill>
                  <a:schemeClr val="accent3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3000"/>
              <a:buNone/>
              <a:defRPr sz="13000">
                <a:solidFill>
                  <a:schemeClr val="accent3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3000"/>
              <a:buNone/>
              <a:defRPr sz="13000">
                <a:solidFill>
                  <a:schemeClr val="accent3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3000"/>
              <a:buNone/>
              <a:defRPr sz="13000">
                <a:solidFill>
                  <a:schemeClr val="accent3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3000"/>
              <a:buNone/>
              <a:defRPr sz="13000">
                <a:solidFill>
                  <a:schemeClr val="accent3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3000"/>
              <a:buNone/>
              <a:defRPr sz="13000">
                <a:solidFill>
                  <a:schemeClr val="accent3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3000"/>
              <a:buNone/>
              <a:defRPr sz="13000">
                <a:solidFill>
                  <a:schemeClr val="accent3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58" name="Google Shape;58;p11"/>
          <p:cNvSpPr txBox="1"/>
          <p:nvPr>
            <p:ph idx="1" type="body"/>
          </p:nvPr>
        </p:nvSpPr>
        <p:spPr>
          <a:xfrm>
            <a:off x="311700" y="2995650"/>
            <a:ext cx="8520600" cy="1071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9" name="Google Shape;59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t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tr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tropic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b="1" sz="3600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b="1" sz="3600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b="1" sz="3600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b="1" sz="3600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b="1" sz="3600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b="1" sz="3600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b="1" sz="3600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b="1" sz="3600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b="1" sz="3600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266325"/>
            <a:ext cx="8520600" cy="330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Open Sans"/>
              <a:buChar char="●"/>
              <a:defRPr sz="18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Open Sans"/>
              <a:buChar char="○"/>
              <a:defRPr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Open Sans"/>
              <a:buChar char="■"/>
              <a:defRPr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Open Sans"/>
              <a:buChar char="●"/>
              <a:defRPr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Open Sans"/>
              <a:buChar char="○"/>
              <a:defRPr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Open Sans"/>
              <a:buChar char="■"/>
              <a:defRPr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Open Sans"/>
              <a:buChar char="●"/>
              <a:defRPr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Open Sans"/>
              <a:buChar char="○"/>
              <a:defRPr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Open Sans"/>
              <a:buChar char="■"/>
              <a:defRPr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lvl="1" algn="r">
              <a:buNone/>
              <a:defRPr sz="10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lvl="2" algn="r">
              <a:buNone/>
              <a:defRPr sz="10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lvl="3" algn="r">
              <a:buNone/>
              <a:defRPr sz="10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lvl="4" algn="r">
              <a:buNone/>
              <a:defRPr sz="10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lvl="5" algn="r">
              <a:buNone/>
              <a:defRPr sz="10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6pPr>
            <a:lvl7pPr lvl="6" algn="r">
              <a:buNone/>
              <a:defRPr sz="10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7pPr>
            <a:lvl8pPr lvl="7" algn="r">
              <a:buNone/>
              <a:defRPr sz="10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8pPr>
            <a:lvl9pPr lvl="8" algn="r">
              <a:buNone/>
              <a:defRPr sz="10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tr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hyperlink" Target="https://github.com/mof-selvi/BTU-Lab-Dokumantasyon/blob/main/emu8086v408r11-setup.exe" TargetMode="Externa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5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3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4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3"/>
          <p:cNvSpPr txBox="1"/>
          <p:nvPr>
            <p:ph type="ctrTitle"/>
          </p:nvPr>
        </p:nvSpPr>
        <p:spPr>
          <a:xfrm>
            <a:off x="1004150" y="1751764"/>
            <a:ext cx="7136700" cy="1022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tr"/>
              <a:t>Micro</a:t>
            </a:r>
            <a:r>
              <a:rPr lang="tr"/>
              <a:t>processor</a:t>
            </a:r>
            <a:r>
              <a:rPr lang="tr"/>
              <a:t> 8086</a:t>
            </a:r>
            <a:endParaRPr/>
          </a:p>
        </p:txBody>
      </p:sp>
      <p:sp>
        <p:nvSpPr>
          <p:cNvPr id="67" name="Google Shape;67;p13"/>
          <p:cNvSpPr txBox="1"/>
          <p:nvPr>
            <p:ph idx="1" type="subTitle"/>
          </p:nvPr>
        </p:nvSpPr>
        <p:spPr>
          <a:xfrm>
            <a:off x="2137225" y="2850039"/>
            <a:ext cx="48705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2500" lnSpcReduction="1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tr"/>
              <a:t>Arş. Gör. Hasibe CANDAN KADEM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tr"/>
              <a:t>Arş. Gör. Yusuf KAYIPMAZ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14"/>
          <p:cNvSpPr txBox="1"/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tr"/>
              <a:t>Assembly kod nedir?</a:t>
            </a:r>
            <a:endParaRPr/>
          </a:p>
        </p:txBody>
      </p:sp>
      <p:sp>
        <p:nvSpPr>
          <p:cNvPr id="73" name="Google Shape;73;p14"/>
          <p:cNvSpPr txBox="1"/>
          <p:nvPr>
            <p:ph idx="1" type="body"/>
          </p:nvPr>
        </p:nvSpPr>
        <p:spPr>
          <a:xfrm>
            <a:off x="311700" y="1266325"/>
            <a:ext cx="8520600" cy="330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marR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tr"/>
              <a:t>Bilgisayar en sonunda makine dili denilen 0 ve 1’leri anlar.</a:t>
            </a:r>
            <a:br>
              <a:rPr lang="tr"/>
            </a:br>
            <a:endParaRPr/>
          </a:p>
          <a:p>
            <a:pPr indent="-342900" lvl="0" marL="457200" marR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tr"/>
              <a:t>0 ve 1’lerle program yazmak çok zor olduğu için, bu bit dizilerine insana yakın kısa kelimeler verilmiş.</a:t>
            </a:r>
            <a:br>
              <a:rPr lang="tr"/>
            </a:br>
            <a:endParaRPr/>
          </a:p>
          <a:p>
            <a:pPr indent="-342900" lvl="0" marL="457200" marR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tr"/>
              <a:t>Bu kısa kelimelere mnemonic diyoruz: MOV, ADD, SUB, INT gibi.</a:t>
            </a:r>
            <a:br>
              <a:rPr lang="tr"/>
            </a:br>
            <a:endParaRPr/>
          </a:p>
          <a:p>
            <a:pPr indent="-342900" lvl="0" marL="457200" marR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tr"/>
              <a:t>İşte bu kelimelerle yazılan düşük seviyeli dile assembly (ya da “assembler dili”) diyoruz.</a:t>
            </a:r>
            <a:br>
              <a:rPr lang="tr"/>
            </a:br>
            <a:endParaRPr/>
          </a:p>
          <a:p>
            <a:pPr indent="-342900" lvl="0" marL="457200" marR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tr"/>
              <a:t>Her işlemci ailesinin assembly’si biraz farklıdır. Biz bu derste 8086 kullanacağız.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15"/>
          <p:cNvSpPr txBox="1"/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tr"/>
              <a:t>emu8086</a:t>
            </a:r>
            <a:endParaRPr/>
          </a:p>
        </p:txBody>
      </p:sp>
      <p:sp>
        <p:nvSpPr>
          <p:cNvPr id="79" name="Google Shape;79;p15"/>
          <p:cNvSpPr txBox="1"/>
          <p:nvPr>
            <p:ph idx="1" type="body"/>
          </p:nvPr>
        </p:nvSpPr>
        <p:spPr>
          <a:xfrm>
            <a:off x="311700" y="1266325"/>
            <a:ext cx="8520600" cy="330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marR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tr"/>
              <a:t>8086, Intel’in eski ama çok ünlü bir mikroişlemcisidir. Bugünkü bilgisayarların çoğu, temelde bu mimarinin devamı sayılır. Yani “klasik x86” denilen şeyin kökü 8086’dır.</a:t>
            </a:r>
            <a:endParaRPr/>
          </a:p>
          <a:p>
            <a:pPr indent="-342900" lvl="0" marL="457200" marR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tr"/>
              <a:t>Bizim lab dersimizde yapacağımız şey: “bu işlemciyi nasıl komutlarla yönetiriz?” sorusunu öğrenmek.</a:t>
            </a:r>
            <a:endParaRPr/>
          </a:p>
          <a:p>
            <a:pPr indent="-342900" lvl="0" marL="457200" marR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tr"/>
              <a:t>Gerçek bir 8086 kartı elimizde yok, pahalı ve zahmetli olacağı için de burada emu8086 ile işlemlerimizi gerçekleştireceğiz.</a:t>
            </a:r>
            <a:endParaRPr/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852"/>
              <a:buNone/>
            </a:pPr>
            <a:r>
              <a:rPr lang="tr"/>
              <a:t>Kurulum için: </a:t>
            </a:r>
            <a:endParaRPr/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852"/>
              <a:buNone/>
            </a:pPr>
            <a:r>
              <a:rPr lang="tr" u="sng">
                <a:solidFill>
                  <a:schemeClr val="hlink"/>
                </a:solidFill>
                <a:hlinkClick r:id="rId3"/>
              </a:rPr>
              <a:t>https://github.com/mof-selvi/BTU-Lab-Dokumantasyon/blob/main/emu8086v408r11-setup.exe</a:t>
            </a:r>
            <a:r>
              <a:rPr lang="tr" u="sng">
                <a:solidFill>
                  <a:schemeClr val="hlink"/>
                </a:solidFill>
              </a:rPr>
              <a:t> </a:t>
            </a:r>
            <a:r>
              <a:rPr lang="tr"/>
              <a:t>adresine giderek emu8086’ı kurmak için açalım.</a:t>
            </a:r>
            <a:endParaRPr/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852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1200"/>
              </a:spcAft>
              <a:buSzPts val="852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6"/>
          <p:cNvSpPr txBox="1"/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tr"/>
              <a:t> Neden emu8086 kullanıyoruz?</a:t>
            </a:r>
            <a:endParaRPr/>
          </a:p>
        </p:txBody>
      </p:sp>
      <p:sp>
        <p:nvSpPr>
          <p:cNvPr id="85" name="Google Shape;85;p16"/>
          <p:cNvSpPr txBox="1"/>
          <p:nvPr>
            <p:ph idx="1" type="body"/>
          </p:nvPr>
        </p:nvSpPr>
        <p:spPr>
          <a:xfrm>
            <a:off x="311700" y="1266325"/>
            <a:ext cx="8520600" cy="330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b="1" lang="tr">
                <a:solidFill>
                  <a:schemeClr val="accent3"/>
                </a:solidFill>
              </a:rPr>
              <a:t>Güvenli:</a:t>
            </a:r>
            <a:r>
              <a:rPr b="1" lang="tr"/>
              <a:t> </a:t>
            </a:r>
            <a:r>
              <a:rPr lang="tr"/>
              <a:t>Gerçek donanımı bozma riskin yok.</a:t>
            </a:r>
            <a:br>
              <a:rPr lang="tr"/>
            </a:br>
            <a:endParaRPr/>
          </a:p>
          <a:p>
            <a:pPr indent="-342900" lvl="0" marL="4572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b="1" lang="tr">
                <a:solidFill>
                  <a:schemeClr val="accent3"/>
                </a:solidFill>
              </a:rPr>
              <a:t>Kolay: </a:t>
            </a:r>
            <a:r>
              <a:rPr lang="tr"/>
              <a:t>Programı yazıp Run deyince hemen sonucu görüyorsun.</a:t>
            </a:r>
            <a:br>
              <a:rPr lang="tr"/>
            </a:br>
            <a:endParaRPr/>
          </a:p>
          <a:p>
            <a:pPr indent="-342900" lvl="0" marL="4572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b="1" lang="tr">
                <a:solidFill>
                  <a:schemeClr val="accent3"/>
                </a:solidFill>
              </a:rPr>
              <a:t>Görsel:</a:t>
            </a:r>
            <a:r>
              <a:rPr b="1" lang="tr"/>
              <a:t> </a:t>
            </a:r>
            <a:r>
              <a:rPr lang="tr"/>
              <a:t>AX, BX, CX gibi register’ların değerleri anında değişiyor, öğrenciler soyut şeyi somut görüyor.</a:t>
            </a:r>
            <a:br>
              <a:rPr lang="tr"/>
            </a:br>
            <a:endParaRPr/>
          </a:p>
          <a:p>
            <a:pPr indent="-342900" lvl="0" marL="4572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b="1" lang="tr">
                <a:solidFill>
                  <a:schemeClr val="accent3"/>
                </a:solidFill>
              </a:rPr>
              <a:t>Tarihi ve temel:</a:t>
            </a:r>
            <a:r>
              <a:rPr b="1" lang="tr"/>
              <a:t> </a:t>
            </a:r>
            <a:r>
              <a:rPr lang="tr"/>
              <a:t>8086 komutları çok karmaşık değildir, temeli öğrenince diğer assembly dillerini anlamak kolaylaşır.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7"/>
          <p:cNvSpPr txBox="1"/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tr"/>
              <a:t>Genel Amaçlı </a:t>
            </a:r>
            <a:r>
              <a:rPr lang="tr"/>
              <a:t>Registerlar</a:t>
            </a:r>
            <a:endParaRPr/>
          </a:p>
        </p:txBody>
      </p:sp>
      <p:sp>
        <p:nvSpPr>
          <p:cNvPr id="91" name="Google Shape;91;p17"/>
          <p:cNvSpPr txBox="1"/>
          <p:nvPr>
            <p:ph idx="1" type="body"/>
          </p:nvPr>
        </p:nvSpPr>
        <p:spPr>
          <a:xfrm>
            <a:off x="311700" y="1266325"/>
            <a:ext cx="8520600" cy="330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tr"/>
              <a:t>Registerlar veri işlemleri için kullanılır.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b="1" lang="tr" sz="1700">
                <a:solidFill>
                  <a:schemeClr val="accent3"/>
                </a:solidFill>
              </a:rPr>
              <a:t>AX (Accumulator):</a:t>
            </a:r>
            <a:r>
              <a:rPr lang="tr" sz="1900"/>
              <a:t> </a:t>
            </a:r>
            <a:r>
              <a:rPr lang="tr"/>
              <a:t>Aritmetik ve giriş/çıkış işlemlerinde en çok kullanılan ana register.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b="1" lang="tr" sz="1700">
                <a:solidFill>
                  <a:schemeClr val="accent3"/>
                </a:solidFill>
              </a:rPr>
              <a:t>BX (Base):</a:t>
            </a:r>
            <a:r>
              <a:rPr lang="tr"/>
              <a:t> Bellek adreslemede taban adresi tutmak için sık kullanılır.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b="1" lang="tr" sz="1700">
                <a:solidFill>
                  <a:schemeClr val="accent3"/>
                </a:solidFill>
              </a:rPr>
              <a:t>CX (Count): </a:t>
            </a:r>
            <a:r>
              <a:rPr lang="tr"/>
              <a:t>Döngü ve tekrar sayacı olarak kullanılır (özellikle LOOP komutunda).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b="1" lang="tr" sz="1700">
                <a:solidFill>
                  <a:schemeClr val="accent3"/>
                </a:solidFill>
              </a:rPr>
              <a:t>DX (Data): </a:t>
            </a:r>
            <a:r>
              <a:rPr lang="tr"/>
              <a:t>Geniş aritmetik işlemlerde AX’e ek olarak kullanılır; I/O port adreslemede de görev alır.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18"/>
          <p:cNvSpPr txBox="1"/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tr"/>
              <a:t>Segment Registerları</a:t>
            </a:r>
            <a:endParaRPr/>
          </a:p>
        </p:txBody>
      </p:sp>
      <p:sp>
        <p:nvSpPr>
          <p:cNvPr id="97" name="Google Shape;97;p18"/>
          <p:cNvSpPr txBox="1"/>
          <p:nvPr>
            <p:ph idx="1" type="body"/>
          </p:nvPr>
        </p:nvSpPr>
        <p:spPr>
          <a:xfrm>
            <a:off x="311700" y="1266325"/>
            <a:ext cx="8520600" cy="330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tr"/>
              <a:t>Bellek segmentleri için kullanılır.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tr" sz="1700">
                <a:solidFill>
                  <a:schemeClr val="accent3"/>
                </a:solidFill>
              </a:rPr>
              <a:t>CS (Code Segment):</a:t>
            </a:r>
            <a:r>
              <a:rPr lang="tr"/>
              <a:t> Program talimatlarının bulunduğu kod segmentinin adresini tutar.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tr" sz="1700">
                <a:solidFill>
                  <a:schemeClr val="accent3"/>
                </a:solidFill>
              </a:rPr>
              <a:t>DS (Data Segment):</a:t>
            </a:r>
            <a:r>
              <a:rPr lang="tr"/>
              <a:t> Varsayılan veri segmentinin adresini tutar.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tr" sz="1700">
                <a:solidFill>
                  <a:schemeClr val="accent3"/>
                </a:solidFill>
              </a:rPr>
              <a:t>SS (Stack Segment): </a:t>
            </a:r>
            <a:r>
              <a:rPr lang="tr"/>
              <a:t>Stack’in (yığın) bulunduğu segmenti gösterir.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b="1" lang="tr" sz="1700">
                <a:solidFill>
                  <a:schemeClr val="accent3"/>
                </a:solidFill>
              </a:rPr>
              <a:t>ES (Extra Segment):</a:t>
            </a:r>
            <a:r>
              <a:rPr lang="tr"/>
              <a:t> Ek veri alanı olarak kullanılır (özellikle MOVS, LODS, STOS gibi string işlemlerinde).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19"/>
          <p:cNvSpPr txBox="1"/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tr"/>
              <a:t>Pointer ve Index Registerları</a:t>
            </a:r>
            <a:endParaRPr/>
          </a:p>
        </p:txBody>
      </p:sp>
      <p:sp>
        <p:nvSpPr>
          <p:cNvPr id="103" name="Google Shape;103;p19"/>
          <p:cNvSpPr txBox="1"/>
          <p:nvPr>
            <p:ph idx="1" type="body"/>
          </p:nvPr>
        </p:nvSpPr>
        <p:spPr>
          <a:xfrm>
            <a:off x="311700" y="1266325"/>
            <a:ext cx="8520600" cy="330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tr"/>
              <a:t>Adresleme için kullanılır.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tr" sz="1700">
                <a:solidFill>
                  <a:schemeClr val="accent3"/>
                </a:solidFill>
              </a:rPr>
              <a:t>IP (Instruction Pointer):</a:t>
            </a:r>
            <a:r>
              <a:rPr lang="tr"/>
              <a:t> Bir sonraki çalıştırılacak komutun offset adresini gösterir.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tr" sz="1700">
                <a:solidFill>
                  <a:schemeClr val="accent3"/>
                </a:solidFill>
              </a:rPr>
              <a:t>SP (Stack Pointer): </a:t>
            </a:r>
            <a:r>
              <a:rPr lang="tr"/>
              <a:t>Stack’in o anki tepesinin adresini gösterir.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tr" sz="1700">
                <a:solidFill>
                  <a:schemeClr val="accent3"/>
                </a:solidFill>
              </a:rPr>
              <a:t>BP (Base Pointer):</a:t>
            </a:r>
            <a:r>
              <a:rPr lang="tr"/>
              <a:t> Stack üzerinden parametre ve yerel değişken erişiminde kullanılır.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tr" sz="1700">
                <a:solidFill>
                  <a:schemeClr val="accent3"/>
                </a:solidFill>
              </a:rPr>
              <a:t>SI (Source Index):</a:t>
            </a:r>
            <a:r>
              <a:rPr lang="tr"/>
              <a:t> Dizi ve string işlemlerinde kaynak adresi işaret eder.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b="1" lang="tr" sz="1700">
                <a:solidFill>
                  <a:schemeClr val="accent3"/>
                </a:solidFill>
              </a:rPr>
              <a:t>DI (Destination Index):</a:t>
            </a:r>
            <a:r>
              <a:rPr lang="tr"/>
              <a:t> Dizi ve string işlemlerinde hedef adresi işaret eder.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20"/>
          <p:cNvSpPr txBox="1"/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tr"/>
              <a:t>Temel komutlar</a:t>
            </a:r>
            <a:endParaRPr/>
          </a:p>
        </p:txBody>
      </p:sp>
      <p:sp>
        <p:nvSpPr>
          <p:cNvPr id="109" name="Google Shape;109;p20"/>
          <p:cNvSpPr txBox="1"/>
          <p:nvPr>
            <p:ph idx="1" type="body"/>
          </p:nvPr>
        </p:nvSpPr>
        <p:spPr>
          <a:xfrm>
            <a:off x="311700" y="1266325"/>
            <a:ext cx="8520600" cy="387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tr" sz="1600">
                <a:solidFill>
                  <a:schemeClr val="accent3"/>
                </a:solidFill>
              </a:rPr>
              <a:t>org 100h</a:t>
            </a:r>
            <a:r>
              <a:rPr lang="tr"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→ </a:t>
            </a:r>
            <a:r>
              <a:rPr lang="tr" sz="1600"/>
              <a:t>Programın hafızada 0100h adresinden başlamasını söyler.</a:t>
            </a:r>
            <a:endParaRPr sz="16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tr" sz="1600">
                <a:solidFill>
                  <a:schemeClr val="accent3"/>
                </a:solidFill>
              </a:rPr>
              <a:t>ret</a:t>
            </a:r>
            <a:r>
              <a:rPr lang="tr"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→</a:t>
            </a:r>
            <a:r>
              <a:rPr lang="tr" sz="1600"/>
              <a:t> Alt programdan/ana koddan çıkıp çağıran yere döner (bizde “program bitti” gibi).</a:t>
            </a:r>
            <a:endParaRPr sz="16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tr" sz="1600">
                <a:solidFill>
                  <a:schemeClr val="accent3"/>
                </a:solidFill>
              </a:rPr>
              <a:t>mov</a:t>
            </a:r>
            <a:r>
              <a:rPr lang="tr"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→ </a:t>
            </a:r>
            <a:r>
              <a:rPr lang="tr" sz="1600"/>
              <a:t>Bir yerden bir yere veri taşır (</a:t>
            </a:r>
            <a:r>
              <a:rPr lang="tr" sz="1600">
                <a:solidFill>
                  <a:schemeClr val="accent3"/>
                </a:solidFill>
              </a:rPr>
              <a:t>mov ax, 5</a:t>
            </a:r>
            <a:r>
              <a:rPr lang="tr" sz="1600"/>
              <a:t>).</a:t>
            </a:r>
            <a:endParaRPr sz="16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tr" sz="1600">
                <a:solidFill>
                  <a:schemeClr val="accent3"/>
                </a:solidFill>
              </a:rPr>
              <a:t>add</a:t>
            </a:r>
            <a:r>
              <a:rPr lang="tr"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→ </a:t>
            </a:r>
            <a:r>
              <a:rPr lang="tr" sz="1600"/>
              <a:t>Sağdakini soldakine ekler (</a:t>
            </a:r>
            <a:r>
              <a:rPr lang="tr" sz="1600">
                <a:solidFill>
                  <a:schemeClr val="accent3"/>
                </a:solidFill>
              </a:rPr>
              <a:t>add ax, bx</a:t>
            </a:r>
            <a:r>
              <a:rPr lang="tr" sz="1600"/>
              <a:t>).</a:t>
            </a:r>
            <a:endParaRPr sz="16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tr" sz="1600">
                <a:solidFill>
                  <a:schemeClr val="accent3"/>
                </a:solidFill>
              </a:rPr>
              <a:t>sub</a:t>
            </a:r>
            <a:r>
              <a:rPr lang="tr"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→ </a:t>
            </a:r>
            <a:r>
              <a:rPr lang="tr" sz="1600"/>
              <a:t>Sağdakini soldakinden çıkarır (</a:t>
            </a:r>
            <a:r>
              <a:rPr lang="tr" sz="1600">
                <a:solidFill>
                  <a:schemeClr val="accent3"/>
                </a:solidFill>
              </a:rPr>
              <a:t>sub ax, 1</a:t>
            </a:r>
            <a:r>
              <a:rPr lang="tr" sz="1600"/>
              <a:t>).</a:t>
            </a:r>
            <a:endParaRPr sz="16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tr" sz="1600">
                <a:solidFill>
                  <a:schemeClr val="accent3"/>
                </a:solidFill>
              </a:rPr>
              <a:t>inc</a:t>
            </a:r>
            <a:r>
              <a:rPr lang="tr"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→ </a:t>
            </a:r>
            <a:r>
              <a:rPr lang="tr" sz="1600"/>
              <a:t>Bir artırır (</a:t>
            </a:r>
            <a:r>
              <a:rPr lang="tr" sz="1600">
                <a:solidFill>
                  <a:schemeClr val="accent3"/>
                </a:solidFill>
              </a:rPr>
              <a:t>inc ax</a:t>
            </a:r>
            <a:r>
              <a:rPr lang="tr" sz="1600"/>
              <a:t>).</a:t>
            </a:r>
            <a:endParaRPr sz="16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tr" sz="1600">
                <a:solidFill>
                  <a:schemeClr val="accent3"/>
                </a:solidFill>
              </a:rPr>
              <a:t>dec</a:t>
            </a:r>
            <a:r>
              <a:rPr lang="tr"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→ </a:t>
            </a:r>
            <a:r>
              <a:rPr lang="tr" sz="1600"/>
              <a:t>Bir azaltır (</a:t>
            </a:r>
            <a:r>
              <a:rPr lang="tr" sz="1600">
                <a:solidFill>
                  <a:schemeClr val="accent3"/>
                </a:solidFill>
              </a:rPr>
              <a:t>dec cx</a:t>
            </a:r>
            <a:r>
              <a:rPr lang="tr" sz="1600"/>
              <a:t>).</a:t>
            </a:r>
            <a:endParaRPr sz="16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tr" sz="1600">
                <a:solidFill>
                  <a:schemeClr val="accent3"/>
                </a:solidFill>
              </a:rPr>
              <a:t>int 21h</a:t>
            </a:r>
            <a:r>
              <a:rPr lang="tr"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→ </a:t>
            </a:r>
            <a:r>
              <a:rPr lang="tr" sz="1600"/>
              <a:t>DOS hizmeti çağırır (ekrana yaz, programı bitir vs.).</a:t>
            </a:r>
            <a:endParaRPr sz="16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tr" sz="1600">
                <a:solidFill>
                  <a:schemeClr val="accent3"/>
                </a:solidFill>
              </a:rPr>
              <a:t>loop etiket </a:t>
            </a:r>
            <a:r>
              <a:rPr lang="tr"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→ </a:t>
            </a:r>
            <a:r>
              <a:rPr lang="tr" sz="1600"/>
              <a:t>CX’i 1 azaltıp sıfır değilse verilen etikete geri döner.</a:t>
            </a:r>
            <a:endParaRPr sz="16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60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21"/>
          <p:cNvSpPr txBox="1"/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tr"/>
              <a:t>Uygulama Ekranı - emu8086</a:t>
            </a:r>
            <a:endParaRPr/>
          </a:p>
        </p:txBody>
      </p:sp>
      <p:pic>
        <p:nvPicPr>
          <p:cNvPr id="115" name="Google Shape;115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5625" y="1152425"/>
            <a:ext cx="8853699" cy="3622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22"/>
          <p:cNvSpPr txBox="1"/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tr"/>
              <a:t>Örnek 1 - AX ve BX registerlarına sayı ataması yap.</a:t>
            </a:r>
            <a:endParaRPr/>
          </a:p>
        </p:txBody>
      </p:sp>
      <p:pic>
        <p:nvPicPr>
          <p:cNvPr id="121" name="Google Shape;121;p2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93125" y="1523400"/>
            <a:ext cx="8151599" cy="32266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23"/>
          <p:cNvSpPr txBox="1"/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tr"/>
              <a:t>Örnek 2 - Kaydedilen sayıyı bir artır.</a:t>
            </a:r>
            <a:endParaRPr/>
          </a:p>
        </p:txBody>
      </p:sp>
      <p:pic>
        <p:nvPicPr>
          <p:cNvPr id="127" name="Google Shape;127;p2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58863" y="1350325"/>
            <a:ext cx="8226274" cy="335907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24"/>
          <p:cNvSpPr txBox="1"/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tr"/>
              <a:t>Örnek 3 - Ax registerındaki sayıyı girilen sayı kadar artır.  </a:t>
            </a:r>
            <a:endParaRPr/>
          </a:p>
        </p:txBody>
      </p:sp>
      <p:pic>
        <p:nvPicPr>
          <p:cNvPr id="133" name="Google Shape;133;p2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80713" y="1152425"/>
            <a:ext cx="7582573" cy="36862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25"/>
          <p:cNvSpPr txBox="1"/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tr"/>
              <a:t>Alıştırma</a:t>
            </a:r>
            <a:endParaRPr/>
          </a:p>
        </p:txBody>
      </p:sp>
      <p:sp>
        <p:nvSpPr>
          <p:cNvPr id="139" name="Google Shape;139;p25"/>
          <p:cNvSpPr txBox="1"/>
          <p:nvPr>
            <p:ph idx="1" type="body"/>
          </p:nvPr>
        </p:nvSpPr>
        <p:spPr>
          <a:xfrm>
            <a:off x="311700" y="1266325"/>
            <a:ext cx="8520600" cy="330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just">
              <a:spcBef>
                <a:spcPts val="0"/>
              </a:spcBef>
              <a:spcAft>
                <a:spcPts val="1200"/>
              </a:spcAft>
              <a:buNone/>
            </a:pPr>
            <a:r>
              <a:rPr lang="tr"/>
              <a:t>8086 assembly dilinde, AX registerına 20 değerini, BX registerına 6 değerini yükleyip bu iki sayıyı çıkararak sonucu AX’te tutan bir program yazınız. </a:t>
            </a:r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26"/>
          <p:cNvSpPr txBox="1"/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tr"/>
              <a:t>Alıştırma Cevap</a:t>
            </a:r>
            <a:endParaRPr/>
          </a:p>
        </p:txBody>
      </p:sp>
      <p:pic>
        <p:nvPicPr>
          <p:cNvPr id="145" name="Google Shape;145;p2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78475" y="1367800"/>
            <a:ext cx="8366726" cy="30879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Tropic">
  <a:themeElements>
    <a:clrScheme name="Tropic">
      <a:dk1>
        <a:srgbClr val="A1E8D9"/>
      </a:dk1>
      <a:lt1>
        <a:srgbClr val="FFFFFF"/>
      </a:lt1>
      <a:dk2>
        <a:srgbClr val="695D46"/>
      </a:dk2>
      <a:lt2>
        <a:srgbClr val="B3A77D"/>
      </a:lt2>
      <a:accent1>
        <a:srgbClr val="EF6C00"/>
      </a:accent1>
      <a:accent2>
        <a:srgbClr val="CE93D8"/>
      </a:accent2>
      <a:accent3>
        <a:srgbClr val="4DB6AC"/>
      </a:accent3>
      <a:accent4>
        <a:srgbClr val="FF9800"/>
      </a:accent4>
      <a:accent5>
        <a:srgbClr val="009668"/>
      </a:accent5>
      <a:accent6>
        <a:srgbClr val="EEFF41"/>
      </a:accent6>
      <a:hlink>
        <a:srgbClr val="009668"/>
      </a:hlink>
      <a:folHlink>
        <a:srgbClr val="009668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