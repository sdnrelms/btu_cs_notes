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9412" autoAdjust="0"/>
  </p:normalViewPr>
  <p:slideViewPr>
    <p:cSldViewPr>
      <p:cViewPr>
        <p:scale>
          <a:sx n="66" d="100"/>
          <a:sy n="66" d="100"/>
        </p:scale>
        <p:origin x="1930" y="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1FB526-0C82-47F0-990A-1078B5654986}" type="datetimeFigureOut">
              <a:rPr lang="tr-TR" smtClean="0"/>
              <a:t>26.10.2025</a:t>
            </a:fld>
            <a:endParaRPr lang="tr-TR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58845D-69FF-490C-BFDC-951931CB11D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86695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58845D-69FF-490C-BFDC-951931CB11D3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356763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58845D-69FF-490C-BFDC-951931CB11D3}" type="slidenum">
              <a:rPr lang="tr-TR" smtClean="0"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072722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58845D-69FF-490C-BFDC-951931CB11D3}" type="slidenum">
              <a:rPr lang="tr-TR" smtClean="0"/>
              <a:t>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702812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1 0000 0000 0000 0000</a:t>
            </a:r>
          </a:p>
          <a:p>
            <a:r>
              <a:rPr lang="tr-TR" dirty="0"/>
              <a:t>-0000 0000 0100 1100</a:t>
            </a:r>
          </a:p>
          <a:p>
            <a:r>
              <a:rPr lang="tr-TR" dirty="0"/>
              <a:t>=1111 1111 1011 0100  (→ FFB4₁₆)</a:t>
            </a:r>
          </a:p>
          <a:p>
            <a:br>
              <a:rPr lang="tr-TR" dirty="0"/>
            </a:br>
            <a:r>
              <a:rPr lang="tr-TR" dirty="0"/>
              <a:t> 0   F   </a:t>
            </a:r>
            <a:r>
              <a:rPr lang="tr-TR" dirty="0" err="1"/>
              <a:t>F</a:t>
            </a:r>
            <a:r>
              <a:rPr lang="tr-TR" dirty="0"/>
              <a:t>   </a:t>
            </a:r>
            <a:r>
              <a:rPr lang="tr-TR" dirty="0" err="1"/>
              <a:t>F</a:t>
            </a:r>
            <a:r>
              <a:rPr lang="tr-TR" dirty="0"/>
              <a:t>   16</a:t>
            </a:r>
          </a:p>
          <a:p>
            <a:r>
              <a:rPr lang="tr-TR" dirty="0"/>
              <a:t> - 0   0   0   4   12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58845D-69FF-490C-BFDC-951931CB11D3}" type="slidenum">
              <a:rPr lang="tr-TR" smtClean="0"/>
              <a:t>11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76117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58845D-69FF-490C-BFDC-951931CB11D3}" type="slidenum">
              <a:rPr lang="tr-TR" smtClean="0"/>
              <a:t>12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590668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 Yer Tutucusu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tr-TR" b="1" dirty="0"/>
                  <a:t>İşaretli (</a:t>
                </a:r>
                <a:r>
                  <a:rPr lang="tr-TR" b="1" dirty="0" err="1"/>
                  <a:t>two’s</a:t>
                </a:r>
                <a:r>
                  <a:rPr lang="tr-TR" b="1" dirty="0"/>
                  <a:t> </a:t>
                </a:r>
                <a:r>
                  <a:rPr lang="tr-TR" b="1" dirty="0" err="1"/>
                  <a:t>complement</a:t>
                </a:r>
                <a:r>
                  <a:rPr lang="tr-TR" b="1" dirty="0"/>
                  <a:t>) tamsayılar</a:t>
                </a:r>
                <a:r>
                  <a:rPr lang="tr-TR" dirty="0"/>
                  <a:t> sabit bit sayısıyla tutulur.</a:t>
                </a:r>
                <a:br>
                  <a:rPr lang="tr-TR" dirty="0"/>
                </a:br>
                <a:r>
                  <a:rPr lang="tr-TR" dirty="0"/>
                  <a:t>n bit için aralık: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−</m:t>
                      </m:r>
                      <m:sSup>
                        <m:sSup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2</m:t>
                          </m:r>
                        </m:e>
                        <m:sup>
                          <m:r>
                            <m:rPr>
                              <m:nor/>
                            </m:rP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 </m:t>
                          </m:r>
                          <m: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𝑛</m:t>
                          </m:r>
                          <m:r>
                            <a:rPr lang="ar-AE" sz="1200" b="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lang="ar-AE" sz="1200" b="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1</m:t>
                          </m:r>
                        </m:sup>
                      </m:sSup>
                      <m:r>
                        <m:rPr>
                          <m:nor/>
                        </m:rPr>
                        <a:rPr lang="ar-AE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  </m:t>
                      </m:r>
                      <m:r>
                        <m:rPr>
                          <m:nor/>
                        </m:rPr>
                        <a:rPr lang="tr-TR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ile</m:t>
                      </m:r>
                      <m:r>
                        <m:rPr>
                          <m:nor/>
                        </m:rPr>
                        <a:rPr lang="tr-TR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  </m:t>
                      </m:r>
                      <m:sSup>
                        <m:sSupPr>
                          <m:ctrlP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lang="ar-AE" sz="1200" b="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2</m:t>
                          </m:r>
                        </m:e>
                        <m:sup>
                          <m:r>
                            <m:rPr>
                              <m:nor/>
                            </m:rP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 </m:t>
                          </m:r>
                          <m:r>
                            <a:rPr lang="ar-AE" sz="1200" b="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𝑛</m:t>
                          </m:r>
                          <m:r>
                            <a:rPr lang="ar-AE" sz="1200" b="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−</m:t>
                          </m:r>
                          <m:r>
                            <a:rPr lang="ar-AE" sz="1200" b="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1</m:t>
                          </m:r>
                        </m:sup>
                      </m:sSup>
                      <m:r>
                        <a:rPr lang="ar-AE" sz="1200" b="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−</m:t>
                      </m:r>
                      <m:r>
                        <a:rPr lang="ar-AE" sz="1200" b="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1</m:t>
                      </m:r>
                    </m:oMath>
                  </m:oMathPara>
                </a14:m>
                <a:endParaRPr lang="ar-AE" b="0" dirty="0"/>
              </a:p>
              <a:p>
                <a:r>
                  <a:rPr lang="tr-TR" b="1" dirty="0"/>
                  <a:t>n = 16 bit</a:t>
                </a:r>
                <a:r>
                  <a:rPr lang="tr-TR" dirty="0"/>
                  <a:t> (1 </a:t>
                </a:r>
                <a:r>
                  <a:rPr lang="tr-TR" dirty="0" err="1"/>
                  <a:t>word</a:t>
                </a:r>
                <a:r>
                  <a:rPr lang="tr-TR" dirty="0"/>
                  <a:t>) için aralık: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sz="12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−</m:t>
                      </m:r>
                      <m:r>
                        <a:rPr lang="tr-TR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32768</m:t>
                      </m:r>
                      <m:r>
                        <m:rPr>
                          <m:nor/>
                        </m:rPr>
                        <a:rPr lang="tr-TR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 </m:t>
                      </m:r>
                      <m:r>
                        <m:rPr>
                          <m:nor/>
                        </m:rPr>
                        <a:rPr lang="tr-TR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ile</m:t>
                      </m:r>
                      <m:r>
                        <m:rPr>
                          <m:nor/>
                        </m:rPr>
                        <a:rPr lang="tr-TR" sz="1200" b="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 </m:t>
                      </m:r>
                      <m:r>
                        <a:rPr lang="tr-TR" sz="1200" b="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32767</m:t>
                      </m:r>
                    </m:oMath>
                  </m:oMathPara>
                </a14:m>
                <a:endParaRPr lang="tr-TR" b="0" dirty="0"/>
              </a:p>
              <a:p>
                <a:r>
                  <a:rPr lang="tr-TR" b="1" dirty="0"/>
                  <a:t>Maksimum pozitif</a:t>
                </a:r>
                <a:r>
                  <a:rPr lang="tr-TR" dirty="0"/>
                  <a:t> değer: </a:t>
                </a:r>
                <a:r>
                  <a:rPr lang="tr-TR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0x7FFF</a:t>
                </a:r>
                <a:br>
                  <a:rPr lang="tr-TR" dirty="0"/>
                </a:br>
                <a:r>
                  <a:rPr lang="tr-TR" dirty="0"/>
                  <a:t>(ikilik: </a:t>
                </a:r>
                <a:r>
                  <a:rPr lang="tr-TR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0 111111111111111</a:t>
                </a:r>
                <a:r>
                  <a:rPr lang="tr-TR" dirty="0"/>
                  <a:t> → üstteki 0 “pozitif” demek)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ar-AE" sz="12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lang="ar-AE" sz="12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2</m:t>
                          </m:r>
                        </m:e>
                        <m:sup>
                          <m:r>
                            <a:rPr lang="ar-AE" sz="1200" i="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15</m:t>
                          </m:r>
                        </m:sup>
                      </m:sSup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−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1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=</m:t>
                      </m:r>
                      <m:r>
                        <a:rPr lang="ar-AE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32767</m:t>
                      </m:r>
                    </m:oMath>
                  </m:oMathPara>
                </a14:m>
                <a:endParaRPr lang="ar-AE" dirty="0"/>
              </a:p>
              <a:p>
                <a:r>
                  <a:rPr lang="tr-TR" dirty="0" err="1"/>
                  <a:t>Hex’te</a:t>
                </a:r>
                <a:r>
                  <a:rPr lang="tr-TR" dirty="0"/>
                  <a:t> </a:t>
                </a:r>
                <a:r>
                  <a:rPr lang="tr-TR" b="1" dirty="0"/>
                  <a:t>en soldaki hane</a:t>
                </a:r>
                <a:r>
                  <a:rPr lang="tr-TR" dirty="0"/>
                  <a:t> 0–7 ise en yüksek bit </a:t>
                </a:r>
                <a:r>
                  <a:rPr lang="tr-TR" b="1" dirty="0"/>
                  <a:t>0</a:t>
                </a:r>
                <a:r>
                  <a:rPr lang="tr-TR" dirty="0"/>
                  <a:t>’dır ⇒ </a:t>
                </a:r>
                <a:r>
                  <a:rPr lang="tr-TR" b="1" dirty="0"/>
                  <a:t>pozitif</a:t>
                </a:r>
                <a:r>
                  <a:rPr lang="tr-TR" dirty="0"/>
                  <a:t>.</a:t>
                </a:r>
                <a:br>
                  <a:rPr lang="tr-TR" dirty="0"/>
                </a:br>
                <a:r>
                  <a:rPr lang="tr-TR" dirty="0"/>
                  <a:t>En soldaki hane 8–F ise en yüksek bit </a:t>
                </a:r>
                <a:r>
                  <a:rPr lang="tr-TR" b="1" dirty="0"/>
                  <a:t>1</a:t>
                </a:r>
                <a:r>
                  <a:rPr lang="tr-TR" dirty="0"/>
                  <a:t>’dir ⇒ </a:t>
                </a:r>
                <a:r>
                  <a:rPr lang="tr-TR" b="1" dirty="0"/>
                  <a:t>negatif</a:t>
                </a:r>
                <a:r>
                  <a:rPr lang="tr-TR" dirty="0"/>
                  <a:t>.</a:t>
                </a:r>
              </a:p>
              <a:p>
                <a:r>
                  <a:rPr lang="tr-TR" dirty="0"/>
                  <a:t>Bu yüzden </a:t>
                </a:r>
                <a:r>
                  <a:rPr lang="tr-TR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0x8000</a:t>
                </a:r>
                <a:r>
                  <a:rPr lang="tr-TR" dirty="0"/>
                  <a:t> (ikilik: </a:t>
                </a:r>
                <a:r>
                  <a:rPr lang="tr-TR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1 000000000000000</a:t>
                </a:r>
                <a:r>
                  <a:rPr lang="tr-TR" dirty="0"/>
                  <a:t>) </a:t>
                </a:r>
                <a:r>
                  <a:rPr lang="tr-TR" b="1" dirty="0"/>
                  <a:t>en küçük</a:t>
                </a:r>
                <a:r>
                  <a:rPr lang="tr-TR" dirty="0"/>
                  <a:t> sayı olan </a:t>
                </a:r>
                <a:r>
                  <a:rPr lang="tr-TR" b="1" dirty="0"/>
                  <a:t>−32768</a:t>
                </a:r>
                <a:r>
                  <a:rPr lang="tr-TR" dirty="0"/>
                  <a:t>’e karşılık gelir (−2¹⁵).</a:t>
                </a:r>
              </a:p>
              <a:p>
                <a:endParaRPr lang="tr-TR" dirty="0"/>
              </a:p>
            </p:txBody>
          </p:sp>
        </mc:Choice>
        <mc:Fallback>
          <p:sp>
            <p:nvSpPr>
              <p:cNvPr id="3" name="Not Yer Tutucusu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tr-TR" b="1" dirty="0"/>
                  <a:t>İşaretli (</a:t>
                </a:r>
                <a:r>
                  <a:rPr lang="tr-TR" b="1" dirty="0" err="1"/>
                  <a:t>two’s</a:t>
                </a:r>
                <a:r>
                  <a:rPr lang="tr-TR" b="1" dirty="0"/>
                  <a:t> </a:t>
                </a:r>
                <a:r>
                  <a:rPr lang="tr-TR" b="1" dirty="0" err="1"/>
                  <a:t>complement</a:t>
                </a:r>
                <a:r>
                  <a:rPr lang="tr-TR" b="1" dirty="0"/>
                  <a:t>) tamsayılar</a:t>
                </a:r>
                <a:r>
                  <a:rPr lang="tr-TR" dirty="0"/>
                  <a:t> sabit bit sayısıyla tutulur.</a:t>
                </a:r>
                <a:br>
                  <a:rPr lang="tr-TR" dirty="0"/>
                </a:br>
                <a:r>
                  <a:rPr lang="tr-TR" dirty="0"/>
                  <a:t>n bit için aralık:</a:t>
                </a:r>
              </a:p>
              <a:p>
                <a:r>
                  <a:rPr lang="tr-T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−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2^(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 " 𝑛−1) 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  </a:t>
                </a:r>
                <a:r>
                  <a:rPr lang="tr-TR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ile  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2^(" " 𝑛−1)−1</a:t>
                </a:r>
                <a:endParaRPr lang="ar-AE" b="0" dirty="0"/>
              </a:p>
              <a:p>
                <a:r>
                  <a:rPr lang="tr-TR" b="1" dirty="0"/>
                  <a:t>n = 16 bit</a:t>
                </a:r>
                <a:r>
                  <a:rPr lang="tr-TR" dirty="0"/>
                  <a:t> (1 </a:t>
                </a:r>
                <a:r>
                  <a:rPr lang="tr-TR" dirty="0" err="1"/>
                  <a:t>word</a:t>
                </a:r>
                <a:r>
                  <a:rPr lang="tr-TR" dirty="0"/>
                  <a:t>) için aralık:</a:t>
                </a:r>
              </a:p>
              <a:p>
                <a:r>
                  <a:rPr lang="tr-T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−32768</a:t>
                </a:r>
                <a:r>
                  <a:rPr lang="tr-TR" sz="1200" b="0" i="0" kern="1200">
                    <a:solidFill>
                      <a:schemeClr val="tx1"/>
                    </a:solidFill>
                    <a:latin typeface="Cambria Math" panose="02040503050406030204" pitchFamily="18" charset="0"/>
                    <a:ea typeface="+mn-ea"/>
                    <a:cs typeface="+mn-cs"/>
                  </a:rPr>
                  <a:t>" ile </a:t>
                </a:r>
                <a:r>
                  <a:rPr lang="tr-TR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32767</a:t>
                </a:r>
                <a:endParaRPr lang="tr-TR" b="0" dirty="0"/>
              </a:p>
              <a:p>
                <a:r>
                  <a:rPr lang="tr-TR" b="1" dirty="0"/>
                  <a:t>Maksimum pozitif</a:t>
                </a:r>
                <a:r>
                  <a:rPr lang="tr-TR" dirty="0"/>
                  <a:t> değer: </a:t>
                </a:r>
                <a:r>
                  <a:rPr lang="tr-TR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0x7FFF</a:t>
                </a:r>
                <a:br>
                  <a:rPr lang="tr-TR" dirty="0"/>
                </a:br>
                <a:r>
                  <a:rPr lang="tr-TR" dirty="0"/>
                  <a:t>(ikilik: </a:t>
                </a:r>
                <a:r>
                  <a:rPr lang="tr-TR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0 111111111111111</a:t>
                </a:r>
                <a:r>
                  <a:rPr lang="tr-TR" dirty="0"/>
                  <a:t> → üstteki 0 “pozitif” demek)</a:t>
                </a:r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2^15−1=32767</a:t>
                </a:r>
                <a:endParaRPr lang="ar-AE" dirty="0"/>
              </a:p>
              <a:p>
                <a:r>
                  <a:rPr lang="tr-TR" dirty="0" err="1"/>
                  <a:t>Hex’te</a:t>
                </a:r>
                <a:r>
                  <a:rPr lang="tr-TR" dirty="0"/>
                  <a:t> </a:t>
                </a:r>
                <a:r>
                  <a:rPr lang="tr-TR" b="1" dirty="0"/>
                  <a:t>en soldaki hane</a:t>
                </a:r>
                <a:r>
                  <a:rPr lang="tr-TR" dirty="0"/>
                  <a:t> 0–7 ise en yüksek bit </a:t>
                </a:r>
                <a:r>
                  <a:rPr lang="tr-TR" b="1" dirty="0"/>
                  <a:t>0</a:t>
                </a:r>
                <a:r>
                  <a:rPr lang="tr-TR" dirty="0"/>
                  <a:t>’dır ⇒ </a:t>
                </a:r>
                <a:r>
                  <a:rPr lang="tr-TR" b="1" dirty="0"/>
                  <a:t>pozitif</a:t>
                </a:r>
                <a:r>
                  <a:rPr lang="tr-TR" dirty="0"/>
                  <a:t>.</a:t>
                </a:r>
                <a:br>
                  <a:rPr lang="tr-TR" dirty="0"/>
                </a:br>
                <a:r>
                  <a:rPr lang="tr-TR" dirty="0"/>
                  <a:t>En soldaki hane 8–F ise en yüksek bit </a:t>
                </a:r>
                <a:r>
                  <a:rPr lang="tr-TR" b="1" dirty="0"/>
                  <a:t>1</a:t>
                </a:r>
                <a:r>
                  <a:rPr lang="tr-TR" dirty="0"/>
                  <a:t>’dir ⇒ </a:t>
                </a:r>
                <a:r>
                  <a:rPr lang="tr-TR" b="1" dirty="0"/>
                  <a:t>negatif</a:t>
                </a:r>
                <a:r>
                  <a:rPr lang="tr-TR" dirty="0"/>
                  <a:t>.</a:t>
                </a:r>
              </a:p>
              <a:p>
                <a:r>
                  <a:rPr lang="tr-TR" dirty="0"/>
                  <a:t>Bu yüzden </a:t>
                </a:r>
                <a:r>
                  <a:rPr lang="tr-TR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0x8000</a:t>
                </a:r>
                <a:r>
                  <a:rPr lang="tr-TR" dirty="0"/>
                  <a:t> (ikilik: </a:t>
                </a:r>
                <a:r>
                  <a:rPr lang="tr-TR" sz="1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1 000000000000000</a:t>
                </a:r>
                <a:r>
                  <a:rPr lang="tr-TR" dirty="0"/>
                  <a:t>) </a:t>
                </a:r>
                <a:r>
                  <a:rPr lang="tr-TR" b="1" dirty="0"/>
                  <a:t>en küçük</a:t>
                </a:r>
                <a:r>
                  <a:rPr lang="tr-TR" dirty="0"/>
                  <a:t> sayı olan </a:t>
                </a:r>
                <a:r>
                  <a:rPr lang="tr-TR" b="1" dirty="0"/>
                  <a:t>−32768</a:t>
                </a:r>
                <a:r>
                  <a:rPr lang="tr-TR" dirty="0"/>
                  <a:t>’e karşılık gelir (−2¹⁵).</a:t>
                </a:r>
              </a:p>
              <a:p>
                <a:endParaRPr lang="tr-TR" dirty="0"/>
              </a:p>
            </p:txBody>
          </p:sp>
        </mc:Fallback>
      </mc:AlternateContent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58845D-69FF-490C-BFDC-951931CB11D3}" type="slidenum">
              <a:rPr lang="tr-TR" smtClean="0"/>
              <a:t>13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881062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Alt Başlık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/>
              <a:t>Asıl alt başlık stilini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50350-DF6B-48C2-80D1-ED6CDF6298E9}" type="datetime1">
              <a:rPr lang="tr-TR" smtClean="0"/>
              <a:t>26.10.2025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B124F-D7C2-4FB2-AC9D-71A0FB8DF0E8}" type="datetime1">
              <a:rPr lang="tr-TR" smtClean="0"/>
              <a:t>26.10.2025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CB2E7E-7459-4297-ADA6-5CA6755CE9F7}" type="datetime1">
              <a:rPr lang="tr-TR" smtClean="0"/>
              <a:t>26.10.2025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BFDAF-613C-445E-BA54-368BAF0CA265}" type="datetime1">
              <a:rPr lang="tr-TR" smtClean="0"/>
              <a:t>26.10.2025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6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DF2D1-71C6-4CF3-8819-88A5146510B9}" type="datetime1">
              <a:rPr lang="tr-TR" smtClean="0"/>
              <a:t>26.10.2025</a:t>
            </a:fld>
            <a:endParaRPr lang="tr-TR"/>
          </a:p>
        </p:txBody>
      </p:sp>
      <p:sp>
        <p:nvSpPr>
          <p:cNvPr id="8" name="7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8C7C4-F17F-40E5-8769-22370E91A9AE}" type="datetime1">
              <a:rPr lang="tr-TR" smtClean="0"/>
              <a:t>26.10.2025</a:t>
            </a:fld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3C644-789B-424A-A14A-68B7AF1C2EA4}" type="datetime1">
              <a:rPr lang="tr-TR" smtClean="0"/>
              <a:t>26.10.2025</a:t>
            </a:fld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A64DB-6D77-49F6-9A53-FA57AC7EF10C}" type="datetime1">
              <a:rPr lang="tr-TR" smtClean="0"/>
              <a:t>26.10.2025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Asıl başlık stili için tıklatın</a:t>
            </a:r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8F749-059D-41DB-8402-55EFCEA7D874}" type="datetime1">
              <a:rPr lang="tr-TR" smtClean="0"/>
              <a:t>26.10.2025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DC207-C550-4C19-8594-ECF31605150C}" type="datetime1">
              <a:rPr lang="tr-TR" smtClean="0"/>
              <a:t>26.10.2025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6220B-89F6-408A-AC1C-4977C9CC9DDF}" type="datetime1">
              <a:rPr lang="tr-TR" smtClean="0"/>
              <a:t>26.10.2025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 Yer Tutucusu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45153C-1564-49F0-A019-7149C611F1B0}" type="datetime1">
              <a:rPr lang="tr-TR" smtClean="0"/>
              <a:t>26.10.2025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02176B-0E47-46AC-8F43-DAB4B8A37D06}" type="slidenum">
              <a:rPr lang="tr-TR" smtClean="0"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611560" y="1988840"/>
            <a:ext cx="7772400" cy="1974081"/>
          </a:xfrm>
        </p:spPr>
        <p:txBody>
          <a:bodyPr>
            <a:normAutofit/>
          </a:bodyPr>
          <a:lstStyle/>
          <a:p>
            <a:r>
              <a:rPr lang="en-US" altLang="tr-TR" dirty="0">
                <a:solidFill>
                  <a:srgbClr val="C00000"/>
                </a:solidFill>
              </a:rPr>
              <a:t>Lab1</a:t>
            </a:r>
            <a:br>
              <a:rPr lang="tr-TR" altLang="tr-TR" dirty="0">
                <a:solidFill>
                  <a:srgbClr val="C00000"/>
                </a:solidFill>
              </a:rPr>
            </a:br>
            <a:r>
              <a:rPr lang="en-US" altLang="tr-TR" dirty="0" err="1">
                <a:solidFill>
                  <a:srgbClr val="C00000"/>
                </a:solidFill>
              </a:rPr>
              <a:t>Repres</a:t>
            </a:r>
            <a:r>
              <a:rPr lang="tr-TR" altLang="tr-TR" dirty="0">
                <a:solidFill>
                  <a:srgbClr val="C00000"/>
                </a:solidFill>
              </a:rPr>
              <a:t>e</a:t>
            </a:r>
            <a:r>
              <a:rPr lang="en-US" altLang="tr-TR" dirty="0" err="1">
                <a:solidFill>
                  <a:srgbClr val="C00000"/>
                </a:solidFill>
              </a:rPr>
              <a:t>nting</a:t>
            </a:r>
            <a:r>
              <a:rPr lang="tr-TR" altLang="tr-TR" dirty="0">
                <a:solidFill>
                  <a:srgbClr val="C00000"/>
                </a:solidFill>
              </a:rPr>
              <a:t> </a:t>
            </a:r>
            <a:r>
              <a:rPr lang="en-US" altLang="tr-TR" dirty="0">
                <a:solidFill>
                  <a:srgbClr val="C00000"/>
                </a:solidFill>
              </a:rPr>
              <a:t>Data</a:t>
            </a:r>
            <a:r>
              <a:rPr lang="tr-TR" altLang="tr-TR" dirty="0">
                <a:solidFill>
                  <a:srgbClr val="C00000"/>
                </a:solidFill>
              </a:rPr>
              <a:t> </a:t>
            </a:r>
            <a:r>
              <a:rPr lang="en-US" altLang="tr-TR" dirty="0">
                <a:solidFill>
                  <a:srgbClr val="C00000"/>
                </a:solidFill>
              </a:rPr>
              <a:t>In</a:t>
            </a:r>
            <a:r>
              <a:rPr lang="tr-TR" altLang="tr-TR" dirty="0">
                <a:solidFill>
                  <a:srgbClr val="C00000"/>
                </a:solidFill>
              </a:rPr>
              <a:t> </a:t>
            </a:r>
            <a:r>
              <a:rPr lang="en-US" altLang="tr-TR" dirty="0">
                <a:solidFill>
                  <a:srgbClr val="C00000"/>
                </a:solidFill>
              </a:rPr>
              <a:t>a</a:t>
            </a:r>
            <a:r>
              <a:rPr lang="tr-TR" altLang="tr-TR" dirty="0">
                <a:solidFill>
                  <a:srgbClr val="C00000"/>
                </a:solidFill>
              </a:rPr>
              <a:t> </a:t>
            </a:r>
            <a:r>
              <a:rPr lang="en-US" altLang="tr-TR" dirty="0">
                <a:solidFill>
                  <a:srgbClr val="C00000"/>
                </a:solidFill>
              </a:rPr>
              <a:t>Computer</a:t>
            </a:r>
            <a:endParaRPr lang="tr-TR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5648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230188" y="296216"/>
            <a:ext cx="8229600" cy="1143000"/>
          </a:xfrm>
        </p:spPr>
        <p:txBody>
          <a:bodyPr/>
          <a:lstStyle/>
          <a:p>
            <a:r>
              <a:rPr lang="tr-TR" altLang="tr-TR" dirty="0" err="1">
                <a:solidFill>
                  <a:srgbClr val="C00000"/>
                </a:solidFill>
              </a:rPr>
              <a:t>Binary</a:t>
            </a:r>
            <a:r>
              <a:rPr lang="tr-TR" altLang="tr-TR" dirty="0">
                <a:solidFill>
                  <a:srgbClr val="C00000"/>
                </a:solidFill>
              </a:rPr>
              <a:t> </a:t>
            </a:r>
            <a:r>
              <a:rPr lang="tr-TR" altLang="tr-TR" dirty="0" err="1">
                <a:solidFill>
                  <a:srgbClr val="C00000"/>
                </a:solidFill>
              </a:rPr>
              <a:t>and</a:t>
            </a:r>
            <a:r>
              <a:rPr lang="tr-TR" altLang="tr-TR" dirty="0">
                <a:solidFill>
                  <a:srgbClr val="C00000"/>
                </a:solidFill>
              </a:rPr>
              <a:t> </a:t>
            </a:r>
            <a:r>
              <a:rPr lang="tr-TR" altLang="tr-TR" dirty="0" err="1">
                <a:solidFill>
                  <a:srgbClr val="C00000"/>
                </a:solidFill>
              </a:rPr>
              <a:t>Hex</a:t>
            </a:r>
            <a:r>
              <a:rPr lang="tr-TR" altLang="tr-TR" dirty="0">
                <a:solidFill>
                  <a:srgbClr val="C00000"/>
                </a:solidFill>
              </a:rPr>
              <a:t> </a:t>
            </a:r>
            <a:r>
              <a:rPr lang="tr-TR" altLang="tr-TR" dirty="0" err="1">
                <a:solidFill>
                  <a:srgbClr val="C00000"/>
                </a:solidFill>
              </a:rPr>
              <a:t>Numbers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 eaLnBrk="1" hangingPunct="1"/>
            <a:r>
              <a:rPr lang="tr-TR" altLang="tr-TR" dirty="0"/>
              <a:t>İkili (</a:t>
            </a:r>
            <a:r>
              <a:rPr lang="tr-TR" altLang="tr-TR" dirty="0" err="1"/>
              <a:t>binary</a:t>
            </a:r>
            <a:r>
              <a:rPr lang="tr-TR" altLang="tr-TR" dirty="0"/>
              <a:t>) sayılar çok uzundur </a:t>
            </a:r>
          </a:p>
          <a:p>
            <a:pPr marL="1009650" lvl="1" indent="-609600"/>
            <a:r>
              <a:rPr lang="tr-TR" altLang="tr-TR" dirty="0"/>
              <a:t>Okuma ve yazması zordur.</a:t>
            </a:r>
            <a:endParaRPr lang="en-US" altLang="tr-TR" dirty="0"/>
          </a:p>
          <a:p>
            <a:pPr marL="1371600" lvl="2" indent="-457200" eaLnBrk="1" hangingPunct="1"/>
            <a:endParaRPr lang="tr-TR" altLang="tr-TR" dirty="0"/>
          </a:p>
          <a:p>
            <a:pPr marL="609600" indent="-609600"/>
            <a:r>
              <a:rPr lang="tr-TR" altLang="tr-TR" dirty="0"/>
              <a:t>Onaltılık taban (</a:t>
            </a:r>
            <a:r>
              <a:rPr lang="tr-TR" altLang="tr-TR" dirty="0" err="1"/>
              <a:t>hexadecimal</a:t>
            </a:r>
            <a:r>
              <a:rPr lang="tr-TR" altLang="tr-TR" dirty="0"/>
              <a:t> </a:t>
            </a:r>
            <a:r>
              <a:rPr lang="tr-TR" altLang="tr-TR" dirty="0" err="1"/>
              <a:t>base</a:t>
            </a:r>
            <a:r>
              <a:rPr lang="tr-TR" altLang="tr-TR" dirty="0"/>
              <a:t>) sayı sistemi, ikilik tabandakinde göre dörtte bir oranında dijit ile temsil edilir.</a:t>
            </a:r>
          </a:p>
          <a:p>
            <a:pPr marL="1009650" lvl="1" indent="-609600"/>
            <a:r>
              <a:rPr lang="tr-TR" altLang="tr-TR" dirty="0" err="1"/>
              <a:t>Hexadecimal</a:t>
            </a:r>
            <a:r>
              <a:rPr lang="tr-TR" altLang="tr-TR" dirty="0"/>
              <a:t> sayılarda </a:t>
            </a:r>
            <a:r>
              <a:rPr lang="tr-TR" altLang="tr-TR" dirty="0" err="1"/>
              <a:t>dihit</a:t>
            </a:r>
            <a:r>
              <a:rPr lang="tr-TR" altLang="tr-TR" dirty="0"/>
              <a:t> konumları 16’nın kuvvetlerine denk gelir. (1, 16, 256, …)</a:t>
            </a:r>
            <a:endParaRPr lang="en-US" altLang="tr-TR" dirty="0"/>
          </a:p>
          <a:p>
            <a:pPr marL="1371600" lvl="2" indent="-457200" eaLnBrk="1" hangingPunct="1"/>
            <a:endParaRPr lang="en-US" altLang="tr-TR" dirty="0"/>
          </a:p>
        </p:txBody>
      </p:sp>
      <p:sp>
        <p:nvSpPr>
          <p:cNvPr id="16" name="Slayt Numarası Yer Tutucusu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20133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230188" y="296216"/>
            <a:ext cx="8229600" cy="1143000"/>
          </a:xfrm>
        </p:spPr>
        <p:txBody>
          <a:bodyPr/>
          <a:lstStyle/>
          <a:p>
            <a:r>
              <a:rPr lang="tr-TR" altLang="tr-TR" dirty="0" err="1">
                <a:solidFill>
                  <a:srgbClr val="C00000"/>
                </a:solidFill>
              </a:rPr>
              <a:t>Binary</a:t>
            </a:r>
            <a:r>
              <a:rPr lang="tr-TR" altLang="tr-TR" dirty="0">
                <a:solidFill>
                  <a:srgbClr val="C00000"/>
                </a:solidFill>
              </a:rPr>
              <a:t> </a:t>
            </a:r>
            <a:r>
              <a:rPr lang="tr-TR" altLang="tr-TR" dirty="0" err="1">
                <a:solidFill>
                  <a:srgbClr val="C00000"/>
                </a:solidFill>
              </a:rPr>
              <a:t>and</a:t>
            </a:r>
            <a:r>
              <a:rPr lang="tr-TR" altLang="tr-TR" dirty="0">
                <a:solidFill>
                  <a:srgbClr val="C00000"/>
                </a:solidFill>
              </a:rPr>
              <a:t> </a:t>
            </a:r>
            <a:r>
              <a:rPr lang="tr-TR" altLang="tr-TR" dirty="0" err="1">
                <a:solidFill>
                  <a:srgbClr val="C00000"/>
                </a:solidFill>
              </a:rPr>
              <a:t>Hex</a:t>
            </a:r>
            <a:r>
              <a:rPr lang="tr-TR" altLang="tr-TR" dirty="0">
                <a:solidFill>
                  <a:srgbClr val="C00000"/>
                </a:solidFill>
              </a:rPr>
              <a:t> </a:t>
            </a:r>
            <a:r>
              <a:rPr lang="tr-TR" altLang="tr-TR" dirty="0" err="1">
                <a:solidFill>
                  <a:srgbClr val="C00000"/>
                </a:solidFill>
              </a:rPr>
              <a:t>Numbers</a:t>
            </a:r>
            <a:endParaRPr lang="tr-TR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609600" indent="-609600" eaLnBrk="1" hangingPunct="1"/>
                <a:r>
                  <a:rPr lang="tr-TR" altLang="tr-TR" dirty="0"/>
                  <a:t>Hexal 9D7A sayısı = </a:t>
                </a:r>
                <a:r>
                  <a:rPr lang="tr-TR" altLang="tr-TR" dirty="0" err="1"/>
                  <a:t>decimal</a:t>
                </a:r>
                <a:r>
                  <a:rPr lang="tr-TR" altLang="tr-TR" dirty="0"/>
                  <a:t> 40314 </a:t>
                </a:r>
              </a:p>
              <a:p>
                <a:pPr marL="400050" lvl="1" indent="0">
                  <a:buNone/>
                </a:pPr>
                <a:endParaRPr lang="tr-TR" altLang="tr-TR" dirty="0"/>
              </a:p>
              <a:p>
                <a:pPr marL="400050" lvl="1" indent="0">
                  <a:buNone/>
                </a:pPr>
                <a:r>
                  <a:rPr lang="tr-TR" altLang="tr-TR" dirty="0"/>
                  <a:t>     9    *       4096          =36864      </a:t>
                </a:r>
                <a:r>
                  <a:rPr lang="tr-TR" altLang="tr-TR" i="1" dirty="0"/>
                  <a:t>[4096 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tr-TR" altLang="tr-TR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tr-TR" altLang="tr-TR" b="0" i="1" dirty="0" smtClean="0">
                            <a:latin typeface="Cambria Math" panose="02040503050406030204" pitchFamily="18" charset="0"/>
                          </a:rPr>
                          <m:t>16</m:t>
                        </m:r>
                      </m:e>
                      <m:sup>
                        <m:r>
                          <a:rPr lang="tr-TR" altLang="tr-TR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tr-TR" altLang="tr-TR" i="1" dirty="0"/>
                  <a:t>]                     </a:t>
                </a:r>
                <a:r>
                  <a:rPr lang="tr-TR" altLang="tr-TR" dirty="0"/>
                  <a:t>+ 13    *         256	=3328	       </a:t>
                </a:r>
                <a:r>
                  <a:rPr lang="tr-TR" altLang="tr-TR" i="1" dirty="0"/>
                  <a:t>[D=13 , 256=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tr-TR" altLang="tr-T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tr-TR" altLang="tr-TR" i="1" dirty="0">
                            <a:latin typeface="Cambria Math" panose="02040503050406030204" pitchFamily="18" charset="0"/>
                          </a:rPr>
                          <m:t>16</m:t>
                        </m:r>
                      </m:e>
                      <m:sup>
                        <m:r>
                          <a:rPr lang="tr-TR" altLang="tr-TR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tr-TR" altLang="tr-TR" i="1" dirty="0"/>
                  <a:t>]</a:t>
                </a:r>
              </a:p>
              <a:p>
                <a:pPr marL="400050" lvl="1" indent="0">
                  <a:buNone/>
                </a:pPr>
                <a:r>
                  <a:rPr lang="tr-TR" altLang="tr-TR" dirty="0"/>
                  <a:t>+ 7	     *	       16	=112           </a:t>
                </a:r>
              </a:p>
              <a:p>
                <a:pPr marL="400050" lvl="1" indent="0">
                  <a:buNone/>
                </a:pPr>
                <a:r>
                  <a:rPr lang="tr-TR" altLang="tr-TR" dirty="0"/>
                  <a:t>+10    *              1	=10	       </a:t>
                </a:r>
                <a:r>
                  <a:rPr lang="tr-TR" altLang="tr-TR" i="1" dirty="0"/>
                  <a:t>[A=10]</a:t>
                </a:r>
              </a:p>
              <a:p>
                <a:pPr marL="400050" lvl="1" indent="0">
                  <a:buNone/>
                </a:pPr>
                <a:r>
                  <a:rPr lang="tr-TR" altLang="tr-TR" dirty="0"/>
                  <a:t>				=40314</a:t>
                </a:r>
              </a:p>
              <a:p>
                <a:pPr marL="400050" lvl="1" indent="0">
                  <a:buNone/>
                </a:pPr>
                <a:endParaRPr lang="tr-TR" altLang="tr-TR" dirty="0"/>
              </a:p>
              <a:p>
                <a:pPr marL="609600" indent="-609600" eaLnBrk="1" hangingPunct="1"/>
                <a:endParaRPr lang="en-US" altLang="tr-TR" dirty="0"/>
              </a:p>
              <a:p>
                <a:pPr marL="1371600" lvl="2" indent="-457200" eaLnBrk="1" hangingPunct="1"/>
                <a:endParaRPr lang="en-US" altLang="tr-TR" dirty="0"/>
              </a:p>
            </p:txBody>
          </p:sp>
        </mc:Choice>
        <mc:Fallback xmlns="">
          <p:sp>
            <p:nvSpPr>
              <p:cNvPr id="4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752" r="-8444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Slayt Numarası Yer Tutucusu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3</a:t>
            </a:fld>
            <a:endParaRPr lang="tr-TR"/>
          </a:p>
        </p:txBody>
      </p:sp>
      <p:cxnSp>
        <p:nvCxnSpPr>
          <p:cNvPr id="5" name="Düz Bağlayıcı 4"/>
          <p:cNvCxnSpPr/>
          <p:nvPr/>
        </p:nvCxnSpPr>
        <p:spPr>
          <a:xfrm>
            <a:off x="827584" y="4725144"/>
            <a:ext cx="475252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6754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230188" y="296216"/>
            <a:ext cx="8229600" cy="1143000"/>
          </a:xfrm>
        </p:spPr>
        <p:txBody>
          <a:bodyPr/>
          <a:lstStyle/>
          <a:p>
            <a:r>
              <a:rPr lang="tr-TR" altLang="tr-TR" dirty="0" err="1">
                <a:solidFill>
                  <a:srgbClr val="C00000"/>
                </a:solidFill>
              </a:rPr>
              <a:t>Binary</a:t>
            </a:r>
            <a:r>
              <a:rPr lang="tr-TR" altLang="tr-TR" dirty="0">
                <a:solidFill>
                  <a:srgbClr val="C00000"/>
                </a:solidFill>
              </a:rPr>
              <a:t> </a:t>
            </a:r>
            <a:r>
              <a:rPr lang="tr-TR" altLang="tr-TR" dirty="0" err="1">
                <a:solidFill>
                  <a:srgbClr val="C00000"/>
                </a:solidFill>
              </a:rPr>
              <a:t>and</a:t>
            </a:r>
            <a:r>
              <a:rPr lang="tr-TR" altLang="tr-TR" dirty="0">
                <a:solidFill>
                  <a:srgbClr val="C00000"/>
                </a:solidFill>
              </a:rPr>
              <a:t> </a:t>
            </a:r>
            <a:r>
              <a:rPr lang="tr-TR" altLang="tr-TR" dirty="0" err="1">
                <a:solidFill>
                  <a:srgbClr val="C00000"/>
                </a:solidFill>
              </a:rPr>
              <a:t>Hex</a:t>
            </a:r>
            <a:r>
              <a:rPr lang="tr-TR" altLang="tr-TR" dirty="0">
                <a:solidFill>
                  <a:srgbClr val="C00000"/>
                </a:solidFill>
              </a:rPr>
              <a:t> </a:t>
            </a:r>
            <a:r>
              <a:rPr lang="tr-TR" altLang="tr-TR" dirty="0" err="1">
                <a:solidFill>
                  <a:srgbClr val="C00000"/>
                </a:solidFill>
              </a:rPr>
              <a:t>Numbers</a:t>
            </a:r>
            <a:endParaRPr lang="tr-TR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609600" indent="-609600" eaLnBrk="1" hangingPunct="1"/>
                <a:r>
                  <a:rPr lang="tr-TR" altLang="tr-TR" dirty="0"/>
                  <a:t>Hexadecimal sayıyı </a:t>
                </a:r>
                <a:r>
                  <a:rPr lang="tr-TR" altLang="tr-TR" dirty="0" err="1"/>
                  <a:t>binary</a:t>
                </a:r>
                <a:r>
                  <a:rPr lang="tr-TR" altLang="tr-TR" dirty="0"/>
                  <a:t> karşılığına dönüştürmek için bir hesap makinesine ihtiyaç yoktur.</a:t>
                </a:r>
              </a:p>
              <a:p>
                <a:pPr marL="1009650" lvl="1" indent="-609600"/>
                <a:r>
                  <a:rPr lang="tr-TR" altLang="tr-TR" dirty="0"/>
                  <a:t>Her </a:t>
                </a:r>
                <a:r>
                  <a:rPr lang="tr-TR" altLang="tr-TR" dirty="0" err="1"/>
                  <a:t>hexal</a:t>
                </a:r>
                <a:r>
                  <a:rPr lang="tr-TR" altLang="tr-TR" dirty="0"/>
                  <a:t> dijitin </a:t>
                </a:r>
                <a:r>
                  <a:rPr lang="tr-TR" altLang="tr-TR" dirty="0" err="1"/>
                  <a:t>binary</a:t>
                </a:r>
                <a:r>
                  <a:rPr lang="tr-TR" altLang="tr-TR" dirty="0"/>
                  <a:t> karşılığı yazılır.</a:t>
                </a:r>
              </a:p>
              <a:p>
                <a:pPr marL="1009650" lvl="1" indent="-609600"/>
                <a:r>
                  <a:rPr lang="tr-TR" altLang="tr-TR" dirty="0"/>
                  <a:t>Eğer gerekirse en soldaki kısma sıfır eklenir.</a:t>
                </a:r>
              </a:p>
              <a:p>
                <a:pPr marL="1009650" lvl="1" indent="-609600"/>
                <a:endParaRPr lang="tr-TR" altLang="tr-TR" dirty="0"/>
              </a:p>
              <a:p>
                <a:pPr marL="609600" indent="-609600"/>
                <a14:m>
                  <m:oMath xmlns:m="http://schemas.openxmlformats.org/officeDocument/2006/math">
                    <m:sSub>
                      <m:sSubPr>
                        <m:ctrlPr>
                          <a:rPr lang="en-US" altLang="tr-T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tr-TR" altLang="tr-TR" dirty="0"/>
                          <m:t>=</m:t>
                        </m:r>
                        <m:sSub>
                          <m:sSubPr>
                            <m:ctrlPr>
                              <a:rPr lang="tr-TR" altLang="tr-T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tr-TR" altLang="tr-TR" dirty="0"/>
                              <m:t>3</m:t>
                            </m:r>
                            <m:r>
                              <m:rPr>
                                <m:nor/>
                              </m:rPr>
                              <a:rPr lang="tr-TR" altLang="tr-TR" dirty="0"/>
                              <m:t>B</m:t>
                            </m:r>
                            <m:r>
                              <m:rPr>
                                <m:nor/>
                              </m:rPr>
                              <a:rPr lang="tr-TR" altLang="tr-TR" dirty="0"/>
                              <m:t>8</m:t>
                            </m:r>
                            <m:r>
                              <m:rPr>
                                <m:nor/>
                              </m:rPr>
                              <a:rPr lang="tr-TR" altLang="tr-TR" dirty="0"/>
                              <m:t>E</m:t>
                            </m:r>
                            <m:r>
                              <m:rPr>
                                <m:nor/>
                              </m:rPr>
                              <a:rPr lang="tr-TR" altLang="tr-TR" dirty="0"/>
                              <m:t>2</m:t>
                            </m:r>
                            <m:r>
                              <m:rPr>
                                <m:nor/>
                              </m:rPr>
                              <a:rPr lang="en-US" altLang="tr-TR" dirty="0"/>
                              <m:t> </m:t>
                            </m:r>
                          </m:e>
                          <m:sub>
                            <m:r>
                              <a:rPr lang="tr-TR" altLang="tr-TR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tr-TR" altLang="tr-TR" i="1" dirty="0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  <m:r>
                          <a:rPr lang="tr-TR" altLang="tr-TR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nor/>
                          </m:rPr>
                          <a:rPr lang="tr-TR" altLang="tr-TR" dirty="0"/>
                          <m:t>11 1011 1000 1110 0010 </m:t>
                        </m:r>
                      </m:e>
                      <m:sub>
                        <m:r>
                          <a:rPr lang="tr-TR" altLang="tr-T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altLang="tr-TR" dirty="0"/>
              </a:p>
            </p:txBody>
          </p:sp>
        </mc:Choice>
        <mc:Fallback xmlns="">
          <p:sp>
            <p:nvSpPr>
              <p:cNvPr id="4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752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Slayt Numarası Yer Tutucusu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4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425626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230188" y="296216"/>
            <a:ext cx="8229600" cy="1143000"/>
          </a:xfrm>
        </p:spPr>
        <p:txBody>
          <a:bodyPr/>
          <a:lstStyle/>
          <a:p>
            <a:r>
              <a:rPr lang="tr-TR" altLang="tr-TR" dirty="0" err="1">
                <a:solidFill>
                  <a:srgbClr val="C00000"/>
                </a:solidFill>
              </a:rPr>
              <a:t>Binary</a:t>
            </a:r>
            <a:r>
              <a:rPr lang="tr-TR" altLang="tr-TR" dirty="0">
                <a:solidFill>
                  <a:srgbClr val="C00000"/>
                </a:solidFill>
              </a:rPr>
              <a:t> </a:t>
            </a:r>
            <a:r>
              <a:rPr lang="tr-TR" altLang="tr-TR" dirty="0" err="1">
                <a:solidFill>
                  <a:srgbClr val="C00000"/>
                </a:solidFill>
              </a:rPr>
              <a:t>and</a:t>
            </a:r>
            <a:r>
              <a:rPr lang="tr-TR" altLang="tr-TR" dirty="0">
                <a:solidFill>
                  <a:srgbClr val="C00000"/>
                </a:solidFill>
              </a:rPr>
              <a:t> </a:t>
            </a:r>
            <a:r>
              <a:rPr lang="tr-TR" altLang="tr-TR" dirty="0" err="1">
                <a:solidFill>
                  <a:srgbClr val="C00000"/>
                </a:solidFill>
              </a:rPr>
              <a:t>Hex</a:t>
            </a:r>
            <a:r>
              <a:rPr lang="tr-TR" altLang="tr-TR" dirty="0">
                <a:solidFill>
                  <a:srgbClr val="C00000"/>
                </a:solidFill>
              </a:rPr>
              <a:t> </a:t>
            </a:r>
            <a:r>
              <a:rPr lang="tr-TR" altLang="tr-TR" dirty="0" err="1">
                <a:solidFill>
                  <a:srgbClr val="C00000"/>
                </a:solidFill>
              </a:rPr>
              <a:t>Numbers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09600" indent="-609600" eaLnBrk="1" hangingPunct="1"/>
            <a:r>
              <a:rPr lang="tr-TR" altLang="tr-TR" dirty="0" err="1"/>
              <a:t>Binary</a:t>
            </a:r>
            <a:r>
              <a:rPr lang="tr-TR" altLang="tr-TR" dirty="0"/>
              <a:t> sayıları </a:t>
            </a:r>
            <a:r>
              <a:rPr lang="tr-TR" altLang="tr-TR" dirty="0" err="1"/>
              <a:t>hexal</a:t>
            </a:r>
            <a:r>
              <a:rPr lang="tr-TR" altLang="tr-TR" dirty="0"/>
              <a:t> formata dönüştürmek için </a:t>
            </a:r>
            <a:r>
              <a:rPr lang="tr-TR" altLang="tr-TR" dirty="0" err="1"/>
              <a:t>binary</a:t>
            </a:r>
            <a:r>
              <a:rPr lang="tr-TR" altLang="tr-TR" dirty="0"/>
              <a:t> sayılar, sağdan başlayarak, 4 bitten oluşan gruplara bölünür ve her 4 bitlik grubun </a:t>
            </a:r>
            <a:r>
              <a:rPr lang="tr-TR" altLang="tr-TR" dirty="0" err="1"/>
              <a:t>hexal</a:t>
            </a:r>
            <a:r>
              <a:rPr lang="tr-TR" altLang="tr-TR" dirty="0"/>
              <a:t> karşılığı yazılır.</a:t>
            </a:r>
          </a:p>
          <a:p>
            <a:pPr marL="0" indent="0" eaLnBrk="1" hangingPunct="1">
              <a:buNone/>
            </a:pPr>
            <a:endParaRPr lang="tr-TR" altLang="tr-TR" dirty="0"/>
          </a:p>
          <a:p>
            <a:pPr marL="0" indent="0" eaLnBrk="1" hangingPunct="1">
              <a:buNone/>
            </a:pPr>
            <a:r>
              <a:rPr lang="tr-TR" altLang="tr-TR" sz="2400" dirty="0"/>
              <a:t>1011011101001101111 = 101|1011|1010|0110|1111 =5BA6F</a:t>
            </a:r>
          </a:p>
          <a:p>
            <a:pPr marL="1009650" lvl="1" indent="-609600"/>
            <a:endParaRPr lang="en-US" altLang="tr-TR" dirty="0"/>
          </a:p>
        </p:txBody>
      </p:sp>
      <p:sp>
        <p:nvSpPr>
          <p:cNvPr id="16" name="Slayt Numarası Yer Tutucusu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5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375167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230188" y="296216"/>
            <a:ext cx="8229600" cy="1143000"/>
          </a:xfrm>
        </p:spPr>
        <p:txBody>
          <a:bodyPr/>
          <a:lstStyle/>
          <a:p>
            <a:r>
              <a:rPr lang="tr-TR" altLang="tr-TR" dirty="0" err="1">
                <a:solidFill>
                  <a:srgbClr val="C00000"/>
                </a:solidFill>
              </a:rPr>
              <a:t>Binary</a:t>
            </a:r>
            <a:r>
              <a:rPr lang="tr-TR" altLang="tr-TR" dirty="0">
                <a:solidFill>
                  <a:srgbClr val="C00000"/>
                </a:solidFill>
              </a:rPr>
              <a:t> </a:t>
            </a:r>
            <a:r>
              <a:rPr lang="tr-TR" altLang="tr-TR" dirty="0" err="1">
                <a:solidFill>
                  <a:srgbClr val="C00000"/>
                </a:solidFill>
              </a:rPr>
              <a:t>and</a:t>
            </a:r>
            <a:r>
              <a:rPr lang="tr-TR" altLang="tr-TR" dirty="0">
                <a:solidFill>
                  <a:srgbClr val="C00000"/>
                </a:solidFill>
              </a:rPr>
              <a:t> </a:t>
            </a:r>
            <a:r>
              <a:rPr lang="tr-TR" altLang="tr-TR" dirty="0" err="1">
                <a:solidFill>
                  <a:srgbClr val="C00000"/>
                </a:solidFill>
              </a:rPr>
              <a:t>Hex</a:t>
            </a:r>
            <a:r>
              <a:rPr lang="tr-TR" altLang="tr-TR" dirty="0">
                <a:solidFill>
                  <a:srgbClr val="C00000"/>
                </a:solidFill>
              </a:rPr>
              <a:t> </a:t>
            </a:r>
            <a:r>
              <a:rPr lang="tr-TR" altLang="tr-TR" dirty="0" err="1">
                <a:solidFill>
                  <a:srgbClr val="C00000"/>
                </a:solidFill>
              </a:rPr>
              <a:t>Numbers</a:t>
            </a:r>
            <a:endParaRPr lang="tr-TR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609600" indent="-609600" eaLnBrk="1" hangingPunct="1"/>
                <a:r>
                  <a:rPr lang="tr-TR" altLang="tr-TR" dirty="0"/>
                  <a:t>Uzun bir </a:t>
                </a:r>
                <a:r>
                  <a:rPr lang="tr-TR" altLang="tr-TR" dirty="0" err="1"/>
                  <a:t>binary</a:t>
                </a:r>
                <a:r>
                  <a:rPr lang="tr-TR" altLang="tr-TR" dirty="0"/>
                  <a:t> sayıyı doğrudan </a:t>
                </a:r>
                <a:r>
                  <a:rPr lang="tr-TR" altLang="tr-TR" dirty="0" err="1"/>
                  <a:t>decimal</a:t>
                </a:r>
                <a:r>
                  <a:rPr lang="tr-TR" altLang="tr-TR" dirty="0"/>
                  <a:t> sayıya dönüştürmek yerine, onu hızlıca </a:t>
                </a:r>
                <a:r>
                  <a:rPr lang="tr-TR" altLang="tr-TR" dirty="0" err="1"/>
                  <a:t>hexal</a:t>
                </a:r>
                <a:r>
                  <a:rPr lang="tr-TR" altLang="tr-TR" dirty="0"/>
                  <a:t> sayıya ve daha sonra da </a:t>
                </a:r>
                <a:r>
                  <a:rPr lang="tr-TR" altLang="tr-TR" dirty="0" err="1"/>
                  <a:t>decimal’e</a:t>
                </a:r>
                <a:r>
                  <a:rPr lang="tr-TR" altLang="tr-TR" dirty="0"/>
                  <a:t> dönüştürmek daha kolaydır</a:t>
                </a:r>
              </a:p>
              <a:p>
                <a:pPr marL="0" indent="0" eaLnBrk="1" hangingPunct="1">
                  <a:buNone/>
                </a:pPr>
                <a:endParaRPr lang="tr-TR" altLang="tr-TR" dirty="0"/>
              </a:p>
              <a:p>
                <a:pPr marL="0" indent="0" eaLnBrk="1" hangingPunct="1">
                  <a:buNone/>
                </a:pPr>
                <a:r>
                  <a:rPr lang="tr-TR" altLang="tr-TR" sz="2400" dirty="0"/>
                  <a:t>1011011101001101111 </a:t>
                </a:r>
              </a:p>
              <a:p>
                <a:pPr marL="0" indent="0">
                  <a:buNone/>
                </a:pPr>
                <a:r>
                  <a:rPr lang="tr-TR" altLang="tr-TR" sz="2400" dirty="0"/>
                  <a:t>= 101  1011  1010  0110  1111</a:t>
                </a:r>
              </a:p>
              <a:p>
                <a:pPr marL="0" indent="0">
                  <a:buNone/>
                </a:pPr>
                <a:r>
                  <a:rPr lang="tr-TR" altLang="tr-TR" sz="2400" dirty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altLang="tr-TR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tr-TR" altLang="tr-TR" sz="2400" dirty="0"/>
                          <m:t>5</m:t>
                        </m:r>
                        <m:r>
                          <m:rPr>
                            <m:nor/>
                          </m:rPr>
                          <a:rPr lang="tr-TR" altLang="tr-TR" sz="2400" dirty="0"/>
                          <m:t>BA</m:t>
                        </m:r>
                        <m:r>
                          <m:rPr>
                            <m:nor/>
                          </m:rPr>
                          <a:rPr lang="tr-TR" altLang="tr-TR" sz="2400" dirty="0"/>
                          <m:t>6</m:t>
                        </m:r>
                        <m:r>
                          <m:rPr>
                            <m:nor/>
                          </m:rPr>
                          <a:rPr lang="tr-TR" altLang="tr-TR" sz="2400" dirty="0"/>
                          <m:t>F</m:t>
                        </m:r>
                        <m:r>
                          <m:rPr>
                            <m:nor/>
                          </m:rPr>
                          <a:rPr lang="tr-TR" altLang="tr-TR" sz="2400" dirty="0"/>
                          <m:t> </m:t>
                        </m:r>
                      </m:e>
                      <m:sub>
                        <m:r>
                          <a:rPr lang="tr-TR" altLang="tr-TR" sz="2400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sub>
                    </m:sSub>
                  </m:oMath>
                </a14:m>
                <a:endParaRPr lang="tr-TR" altLang="tr-TR" dirty="0"/>
              </a:p>
              <a:p>
                <a:pPr marL="0" indent="0">
                  <a:buNone/>
                </a:pPr>
                <a:r>
                  <a:rPr lang="tr-TR" altLang="tr-TR" dirty="0"/>
                  <a:t>=5* 65536 + 11*4096 + 10*256 + 6 * 16 +15*1</a:t>
                </a:r>
              </a:p>
              <a:p>
                <a:pPr marL="0" indent="0">
                  <a:buNone/>
                </a:pPr>
                <a:r>
                  <a:rPr lang="tr-TR" altLang="tr-TR" dirty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altLang="tr-T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tr-TR" altLang="tr-TR" dirty="0"/>
                          <m:t>375407</m:t>
                        </m:r>
                        <m:r>
                          <m:rPr>
                            <m:nor/>
                          </m:rPr>
                          <a:rPr lang="en-US" altLang="tr-TR" dirty="0"/>
                          <m:t> </m:t>
                        </m:r>
                      </m:e>
                      <m:sub>
                        <m:r>
                          <a:rPr lang="tr-TR" altLang="tr-TR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endParaRPr lang="en-US" altLang="tr-TR" dirty="0"/>
              </a:p>
            </p:txBody>
          </p:sp>
        </mc:Choice>
        <mc:Fallback xmlns="">
          <p:sp>
            <p:nvSpPr>
              <p:cNvPr id="4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2695" r="-1185" b="-404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Slayt Numarası Yer Tutucusu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6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584837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230188" y="296216"/>
            <a:ext cx="8229600" cy="1143000"/>
          </a:xfrm>
        </p:spPr>
        <p:txBody>
          <a:bodyPr/>
          <a:lstStyle/>
          <a:p>
            <a:r>
              <a:rPr lang="tr-TR" altLang="tr-TR" dirty="0" err="1">
                <a:solidFill>
                  <a:srgbClr val="C00000"/>
                </a:solidFill>
              </a:rPr>
              <a:t>Binary</a:t>
            </a:r>
            <a:r>
              <a:rPr lang="tr-TR" altLang="tr-TR" dirty="0">
                <a:solidFill>
                  <a:srgbClr val="C00000"/>
                </a:solidFill>
              </a:rPr>
              <a:t> </a:t>
            </a:r>
            <a:r>
              <a:rPr lang="tr-TR" altLang="tr-TR" dirty="0" err="1">
                <a:solidFill>
                  <a:srgbClr val="C00000"/>
                </a:solidFill>
              </a:rPr>
              <a:t>and</a:t>
            </a:r>
            <a:r>
              <a:rPr lang="tr-TR" altLang="tr-TR" dirty="0">
                <a:solidFill>
                  <a:srgbClr val="C00000"/>
                </a:solidFill>
              </a:rPr>
              <a:t> </a:t>
            </a:r>
            <a:r>
              <a:rPr lang="tr-TR" altLang="tr-TR" dirty="0" err="1">
                <a:solidFill>
                  <a:srgbClr val="C00000"/>
                </a:solidFill>
              </a:rPr>
              <a:t>Hex</a:t>
            </a:r>
            <a:r>
              <a:rPr lang="tr-TR" altLang="tr-TR" dirty="0">
                <a:solidFill>
                  <a:srgbClr val="C00000"/>
                </a:solidFill>
              </a:rPr>
              <a:t> </a:t>
            </a:r>
            <a:r>
              <a:rPr lang="tr-TR" altLang="tr-TR" dirty="0" err="1">
                <a:solidFill>
                  <a:srgbClr val="C00000"/>
                </a:solidFill>
              </a:rPr>
              <a:t>Numbers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16" name="Slayt Numarası Yer Tutucusu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7</a:t>
            </a:fld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7118" y="1710100"/>
            <a:ext cx="8137330" cy="4827958"/>
          </a:xfrm>
          <a:prstGeom prst="rect">
            <a:avLst/>
          </a:prstGeom>
        </p:spPr>
      </p:pic>
      <p:sp>
        <p:nvSpPr>
          <p:cNvPr id="6" name="Metin kutusu 5"/>
          <p:cNvSpPr txBox="1"/>
          <p:nvPr/>
        </p:nvSpPr>
        <p:spPr>
          <a:xfrm>
            <a:off x="457200" y="1228028"/>
            <a:ext cx="4104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Aşağıdaki eksik kısımları tamamlayınız</a:t>
            </a:r>
          </a:p>
        </p:txBody>
      </p:sp>
    </p:spTree>
    <p:extLst>
      <p:ext uri="{BB962C8B-B14F-4D97-AF65-F5344CB8AC3E}">
        <p14:creationId xmlns:p14="http://schemas.microsoft.com/office/powerpoint/2010/main" val="2511058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230188" y="296216"/>
            <a:ext cx="8229600" cy="1143000"/>
          </a:xfrm>
        </p:spPr>
        <p:txBody>
          <a:bodyPr/>
          <a:lstStyle/>
          <a:p>
            <a:r>
              <a:rPr lang="tr-TR" altLang="tr-TR" dirty="0" err="1">
                <a:solidFill>
                  <a:srgbClr val="C00000"/>
                </a:solidFill>
              </a:rPr>
              <a:t>Binary</a:t>
            </a:r>
            <a:r>
              <a:rPr lang="tr-TR" altLang="tr-TR" dirty="0">
                <a:solidFill>
                  <a:srgbClr val="C00000"/>
                </a:solidFill>
              </a:rPr>
              <a:t> </a:t>
            </a:r>
            <a:r>
              <a:rPr lang="tr-TR" altLang="tr-TR" dirty="0" err="1">
                <a:solidFill>
                  <a:srgbClr val="C00000"/>
                </a:solidFill>
              </a:rPr>
              <a:t>and</a:t>
            </a:r>
            <a:r>
              <a:rPr lang="tr-TR" altLang="tr-TR" dirty="0">
                <a:solidFill>
                  <a:srgbClr val="C00000"/>
                </a:solidFill>
              </a:rPr>
              <a:t> </a:t>
            </a:r>
            <a:r>
              <a:rPr lang="tr-TR" altLang="tr-TR" dirty="0" err="1">
                <a:solidFill>
                  <a:srgbClr val="C00000"/>
                </a:solidFill>
              </a:rPr>
              <a:t>Hex</a:t>
            </a:r>
            <a:r>
              <a:rPr lang="tr-TR" altLang="tr-TR" dirty="0">
                <a:solidFill>
                  <a:srgbClr val="C00000"/>
                </a:solidFill>
              </a:rPr>
              <a:t> </a:t>
            </a:r>
            <a:r>
              <a:rPr lang="tr-TR" altLang="tr-TR" dirty="0" err="1">
                <a:solidFill>
                  <a:srgbClr val="C00000"/>
                </a:solidFill>
              </a:rPr>
              <a:t>Numbers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16" name="Slayt Numarası Yer Tutucusu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8</a:t>
            </a:fld>
            <a:endParaRPr lang="tr-TR" dirty="0"/>
          </a:p>
        </p:txBody>
      </p:sp>
      <p:sp>
        <p:nvSpPr>
          <p:cNvPr id="6" name="Metin kutusu 5"/>
          <p:cNvSpPr txBox="1"/>
          <p:nvPr/>
        </p:nvSpPr>
        <p:spPr>
          <a:xfrm>
            <a:off x="457200" y="1228028"/>
            <a:ext cx="41044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Aşağıdaki eksik kısımları tamamlayınız</a:t>
            </a:r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67958" y="1844824"/>
            <a:ext cx="7891830" cy="3129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393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230188" y="296216"/>
            <a:ext cx="8229600" cy="1143000"/>
          </a:xfrm>
        </p:spPr>
        <p:txBody>
          <a:bodyPr/>
          <a:lstStyle/>
          <a:p>
            <a:r>
              <a:rPr lang="tr-TR" altLang="tr-TR" dirty="0" err="1">
                <a:solidFill>
                  <a:srgbClr val="C00000"/>
                </a:solidFill>
              </a:rPr>
              <a:t>Unsigned</a:t>
            </a:r>
            <a:r>
              <a:rPr lang="tr-TR" altLang="tr-TR" dirty="0">
                <a:solidFill>
                  <a:srgbClr val="C00000"/>
                </a:solidFill>
              </a:rPr>
              <a:t> </a:t>
            </a:r>
            <a:r>
              <a:rPr lang="tr-TR" altLang="tr-TR" dirty="0" err="1">
                <a:solidFill>
                  <a:srgbClr val="C00000"/>
                </a:solidFill>
              </a:rPr>
              <a:t>and</a:t>
            </a:r>
            <a:r>
              <a:rPr lang="tr-TR" altLang="tr-TR" dirty="0">
                <a:solidFill>
                  <a:srgbClr val="C00000"/>
                </a:solidFill>
              </a:rPr>
              <a:t> </a:t>
            </a:r>
            <a:r>
              <a:rPr lang="tr-TR" altLang="tr-TR" dirty="0" err="1">
                <a:solidFill>
                  <a:srgbClr val="C00000"/>
                </a:solidFill>
              </a:rPr>
              <a:t>Signed</a:t>
            </a:r>
            <a:r>
              <a:rPr lang="tr-TR" altLang="tr-TR" dirty="0">
                <a:solidFill>
                  <a:srgbClr val="C00000"/>
                </a:solidFill>
              </a:rPr>
              <a:t> </a:t>
            </a:r>
            <a:r>
              <a:rPr lang="tr-TR" altLang="tr-TR" dirty="0" err="1">
                <a:solidFill>
                  <a:srgbClr val="C00000"/>
                </a:solidFill>
              </a:rPr>
              <a:t>Integers</a:t>
            </a:r>
            <a:endParaRPr lang="tr-TR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609600" indent="-609600" eaLnBrk="1" hangingPunct="1"/>
                <a:r>
                  <a:rPr lang="tr-TR" altLang="tr-TR" dirty="0"/>
                  <a:t>2’s </a:t>
                </a:r>
                <a:r>
                  <a:rPr lang="tr-TR" altLang="tr-TR" dirty="0" err="1"/>
                  <a:t>complement</a:t>
                </a:r>
                <a:r>
                  <a:rPr lang="tr-TR" altLang="tr-TR" dirty="0"/>
                  <a:t> (2’ye </a:t>
                </a:r>
                <a:r>
                  <a:rPr lang="tr-TR" altLang="tr-TR" dirty="0" err="1"/>
                  <a:t>tümleyen</a:t>
                </a:r>
                <a:r>
                  <a:rPr lang="tr-TR" altLang="tr-TR" dirty="0"/>
                  <a:t>)</a:t>
                </a:r>
              </a:p>
              <a:p>
                <a:pPr marL="1009650" lvl="1" indent="-609600"/>
                <a:r>
                  <a:rPr lang="tr-TR" altLang="tr-TR" dirty="0"/>
                  <a:t>Negatif sayıların temsiline olanak tanır.</a:t>
                </a:r>
              </a:p>
              <a:p>
                <a:pPr marL="1009650" lvl="1" indent="-609600"/>
                <a:r>
                  <a:rPr lang="tr-TR" altLang="tr-TR" dirty="0"/>
                  <a:t>Negatif olmayan sayıların 2’ye tümleyen temsili, işaretsiz sayılarınkiyle neredeyse aynıdır.</a:t>
                </a:r>
              </a:p>
              <a:p>
                <a:pPr marL="1409700" lvl="2" indent="-609600"/>
                <a:r>
                  <a:rPr lang="tr-TR" altLang="tr-TR" dirty="0"/>
                  <a:t>Sayının başına yeterince sıfır koyarak </a:t>
                </a:r>
                <a:r>
                  <a:rPr lang="tr-TR" altLang="tr-TR" dirty="0" err="1"/>
                  <a:t>binary</a:t>
                </a:r>
                <a:r>
                  <a:rPr lang="tr-TR" altLang="tr-TR" dirty="0"/>
                  <a:t> formatta istenilen uzunlukta gösterilir.</a:t>
                </a:r>
              </a:p>
              <a:p>
                <a:pPr marL="1409700" lvl="2" indent="-609600"/>
                <a:r>
                  <a:rPr lang="tr-TR" altLang="tr-TR" dirty="0"/>
                  <a:t>Sadece ilave kısıtlama şudur: pozitif bir sayı için en soldaki bit ( </a:t>
                </a:r>
                <a:r>
                  <a:rPr lang="tr-TR" altLang="tr-TR" i="1" dirty="0" err="1"/>
                  <a:t>the</a:t>
                </a:r>
                <a:r>
                  <a:rPr lang="tr-TR" altLang="tr-TR" i="1" dirty="0"/>
                  <a:t> </a:t>
                </a:r>
                <a:r>
                  <a:rPr lang="tr-TR" altLang="tr-TR" i="1" dirty="0" err="1"/>
                  <a:t>leftmost</a:t>
                </a:r>
                <a:r>
                  <a:rPr lang="tr-TR" altLang="tr-TR" i="1" dirty="0"/>
                  <a:t> bit</a:t>
                </a:r>
                <a:r>
                  <a:rPr lang="tr-TR" altLang="tr-TR" dirty="0"/>
                  <a:t>) sıfır olmalıdır.</a:t>
                </a:r>
              </a:p>
              <a:p>
                <a:pPr marL="0" indent="0">
                  <a:buNone/>
                </a:pPr>
                <a:r>
                  <a:rPr lang="tr-TR" altLang="tr-TR" dirty="0"/>
                  <a:t>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altLang="tr-TR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altLang="tr-TR" sz="2800" b="0" i="1" smtClean="0">
                            <a:latin typeface="Cambria Math" panose="02040503050406030204" pitchFamily="18" charset="0"/>
                          </a:rPr>
                          <m:t>011111111111111</m:t>
                        </m:r>
                      </m:e>
                      <m:sub>
                        <m:r>
                          <a:rPr lang="tr-TR" altLang="tr-TR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tr-TR" altLang="tr-TR" sz="2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tr-TR" altLang="tr-TR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altLang="tr-TR" sz="2800" b="0" i="1" smtClean="0"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tr-TR" altLang="tr-TR" sz="2800" b="0" i="1" smtClean="0">
                            <a:latin typeface="Cambria Math" panose="02040503050406030204" pitchFamily="18" charset="0"/>
                          </a:rPr>
                          <m:t>𝐹𝐹𝐹</m:t>
                        </m:r>
                      </m:e>
                      <m:sub>
                        <m:r>
                          <a:rPr lang="tr-TR" altLang="tr-TR" sz="2800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sub>
                    </m:sSub>
                    <m:r>
                      <a:rPr lang="tr-TR" altLang="tr-TR" sz="2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tr-TR" altLang="tr-T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altLang="tr-TR" sz="2800" i="1">
                            <a:latin typeface="Cambria Math" panose="02040503050406030204" pitchFamily="18" charset="0"/>
                          </a:rPr>
                          <m:t>32767</m:t>
                        </m:r>
                        <m:r>
                          <m:rPr>
                            <m:nor/>
                          </m:rPr>
                          <a:rPr lang="en-US" altLang="tr-TR" sz="2800" dirty="0"/>
                          <m:t> </m:t>
                        </m:r>
                      </m:e>
                      <m:sub>
                        <m:r>
                          <a:rPr lang="tr-TR" altLang="tr-TR" sz="28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endParaRPr lang="en-US" altLang="tr-TR" dirty="0"/>
              </a:p>
            </p:txBody>
          </p:sp>
        </mc:Choice>
        <mc:Fallback>
          <p:sp>
            <p:nvSpPr>
              <p:cNvPr id="4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704" t="-1752" r="-444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Slayt Numarası Yer Tutucusu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9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2515507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230188" y="296216"/>
            <a:ext cx="8229600" cy="1143000"/>
          </a:xfrm>
        </p:spPr>
        <p:txBody>
          <a:bodyPr/>
          <a:lstStyle/>
          <a:p>
            <a:r>
              <a:rPr lang="tr-TR" altLang="tr-TR" dirty="0" err="1">
                <a:solidFill>
                  <a:srgbClr val="C00000"/>
                </a:solidFill>
              </a:rPr>
              <a:t>Unsigned</a:t>
            </a:r>
            <a:r>
              <a:rPr lang="tr-TR" altLang="tr-TR" dirty="0">
                <a:solidFill>
                  <a:srgbClr val="C00000"/>
                </a:solidFill>
              </a:rPr>
              <a:t> </a:t>
            </a:r>
            <a:r>
              <a:rPr lang="tr-TR" altLang="tr-TR" dirty="0" err="1">
                <a:solidFill>
                  <a:srgbClr val="C00000"/>
                </a:solidFill>
              </a:rPr>
              <a:t>and</a:t>
            </a:r>
            <a:r>
              <a:rPr lang="tr-TR" altLang="tr-TR" dirty="0">
                <a:solidFill>
                  <a:srgbClr val="C00000"/>
                </a:solidFill>
              </a:rPr>
              <a:t> </a:t>
            </a:r>
            <a:r>
              <a:rPr lang="tr-TR" altLang="tr-TR" dirty="0" err="1">
                <a:solidFill>
                  <a:srgbClr val="C00000"/>
                </a:solidFill>
              </a:rPr>
              <a:t>Signed</a:t>
            </a:r>
            <a:r>
              <a:rPr lang="tr-TR" altLang="tr-TR" dirty="0">
                <a:solidFill>
                  <a:srgbClr val="C00000"/>
                </a:solidFill>
              </a:rPr>
              <a:t> </a:t>
            </a:r>
            <a:r>
              <a:rPr lang="tr-TR" altLang="tr-TR" dirty="0" err="1">
                <a:solidFill>
                  <a:srgbClr val="C00000"/>
                </a:solidFill>
              </a:rPr>
              <a:t>Integers</a:t>
            </a:r>
            <a:endParaRPr lang="tr-TR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>
                <a:spLocks noGrp="1" noChangeArrowheads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609600" indent="-609600" eaLnBrk="1" hangingPunct="1"/>
                <a:r>
                  <a:rPr lang="tr-TR" altLang="tr-TR" sz="2800" dirty="0"/>
                  <a:t>Negatif sayıların 2’ye </a:t>
                </a:r>
                <a:r>
                  <a:rPr lang="tr-TR" altLang="tr-TR" sz="2800" dirty="0" err="1"/>
                  <a:t>tümleyeninde</a:t>
                </a:r>
                <a:r>
                  <a:rPr lang="tr-TR" altLang="tr-TR" sz="2800" dirty="0"/>
                  <a:t> en soldaki bit, her zaman 1’dir.</a:t>
                </a:r>
              </a:p>
              <a:p>
                <a:pPr marL="609600" indent="-609600" eaLnBrk="1" hangingPunct="1"/>
                <a:r>
                  <a:rPr lang="tr-TR" altLang="tr-TR" sz="2800" dirty="0"/>
                  <a:t>Fakat bir sayının negatif versiyonunu elde etmek için sadece basitçe el soldaki biti 1 yapmak yeterli değildir.</a:t>
                </a:r>
              </a:p>
              <a:p>
                <a:pPr marL="1009650" lvl="1" indent="-609600"/>
                <a:r>
                  <a:rPr lang="tr-TR" altLang="tr-TR" sz="2400" dirty="0"/>
                  <a:t>Yöntemlerden biri, sayıyı </a:t>
                </a:r>
                <a:r>
                  <a:rPr lang="tr-TR" altLang="tr-TR" sz="2400" dirty="0" err="1"/>
                  <a:t>hex</a:t>
                </a:r>
                <a:r>
                  <a:rPr lang="tr-TR" altLang="tr-TR" sz="2400" dirty="0"/>
                  <a:t> formatında işaretsiz sayı olarak göstermek ve kelime uzunluğunda sayıyı (</a:t>
                </a:r>
                <a:r>
                  <a:rPr lang="tr-TR" altLang="tr-TR" sz="2400" i="1" dirty="0" err="1"/>
                  <a:t>word-length</a:t>
                </a:r>
                <a:r>
                  <a:rPr lang="tr-TR" altLang="tr-TR" sz="2400" dirty="0"/>
                  <a:t>) elde etmek için  onu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altLang="tr-T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altLang="tr-TR" sz="2400" b="0" i="1" smtClean="0">
                            <a:latin typeface="Cambria Math" panose="02040503050406030204" pitchFamily="18" charset="0"/>
                          </a:rPr>
                          <m:t>1000</m:t>
                        </m:r>
                        <m:r>
                          <m:rPr>
                            <m:nor/>
                          </m:rPr>
                          <a:rPr lang="tr-TR" altLang="tr-TR" sz="2400" b="0" i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nor/>
                          </m:rPr>
                          <a:rPr lang="en-US" altLang="tr-TR" sz="2400" dirty="0"/>
                          <m:t> </m:t>
                        </m:r>
                      </m:e>
                      <m:sub>
                        <m:r>
                          <a:rPr lang="tr-TR" altLang="tr-TR" sz="24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tr-TR" altLang="tr-TR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tr-TR" altLang="tr-TR" sz="2400" dirty="0"/>
                  <a:t> </a:t>
                </a:r>
                <a:r>
                  <a:rPr lang="tr-TR" altLang="tr-TR" sz="2400" dirty="0" err="1"/>
                  <a:t>hex</a:t>
                </a:r>
                <a:r>
                  <a:rPr lang="tr-TR" altLang="tr-TR" sz="2400" dirty="0"/>
                  <a:t> sayısından çıkarmaktır. </a:t>
                </a:r>
              </a:p>
              <a:p>
                <a:pPr marL="1009650" lvl="1" indent="-609600"/>
                <a:r>
                  <a:rPr lang="tr-TR" altLang="tr-TR" sz="2400" dirty="0"/>
                  <a:t>(Eğer </a:t>
                </a:r>
                <a:r>
                  <a:rPr lang="tr-TR" altLang="tr-TR" sz="2400" i="1" dirty="0" err="1"/>
                  <a:t>quad-word</a:t>
                </a:r>
                <a:r>
                  <a:rPr lang="tr-TR" altLang="tr-TR" sz="2400" i="1" dirty="0"/>
                  <a:t> </a:t>
                </a:r>
                <a:r>
                  <a:rPr lang="tr-TR" altLang="tr-TR" sz="2400" i="1" dirty="0" err="1"/>
                  <a:t>length</a:t>
                </a:r>
                <a:r>
                  <a:rPr lang="tr-TR" altLang="tr-TR" sz="2400" i="1" dirty="0"/>
                  <a:t> </a:t>
                </a:r>
                <a:r>
                  <a:rPr lang="tr-TR" altLang="tr-TR" sz="2400" dirty="0"/>
                  <a:t>uzunluğundaki sayı elde etmek istenirse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altLang="tr-T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altLang="tr-TR" sz="2400">
                            <a:latin typeface="Cambria Math" panose="02040503050406030204" pitchFamily="18" charset="0"/>
                          </a:rPr>
                          <m:t>1000</m:t>
                        </m:r>
                        <m:r>
                          <m:rPr>
                            <m:nor/>
                          </m:rPr>
                          <a:rPr lang="tr-TR" altLang="tr-TR" sz="2400"/>
                          <m:t>00000</m:t>
                        </m:r>
                        <m:r>
                          <m:rPr>
                            <m:nor/>
                          </m:rPr>
                          <a:rPr lang="en-US" altLang="tr-TR" sz="2400" dirty="0"/>
                          <m:t> </m:t>
                        </m:r>
                      </m:e>
                      <m:sub>
                        <m:r>
                          <a:rPr lang="tr-TR" altLang="tr-TR" sz="2400">
                            <a:latin typeface="Cambria Math" panose="02040503050406030204" pitchFamily="18" charset="0"/>
                          </a:rPr>
                          <m:t>16</m:t>
                        </m:r>
                      </m:sub>
                    </m:sSub>
                  </m:oMath>
                </a14:m>
                <a:r>
                  <a:rPr lang="tr-TR" altLang="tr-TR" sz="2400" dirty="0">
                    <a:latin typeface="Calibri (Gövde)"/>
                  </a:rPr>
                  <a:t> </a:t>
                </a:r>
                <a:r>
                  <a:rPr lang="tr-TR" altLang="tr-TR" sz="2400" dirty="0"/>
                  <a:t>den çıkarmak gerekir.)</a:t>
                </a:r>
                <a:endParaRPr lang="tr-TR" altLang="tr-TR" sz="2400" dirty="0">
                  <a:latin typeface="Calibri (Gövde)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2291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Slayt Numarası Yer Tutucusu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10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9559305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230188" y="296216"/>
            <a:ext cx="8229600" cy="1143000"/>
          </a:xfrm>
        </p:spPr>
        <p:txBody>
          <a:bodyPr/>
          <a:lstStyle/>
          <a:p>
            <a:r>
              <a:rPr lang="tr-TR" altLang="tr-TR" dirty="0" err="1">
                <a:solidFill>
                  <a:srgbClr val="C00000"/>
                </a:solidFill>
              </a:rPr>
              <a:t>Unsigned</a:t>
            </a:r>
            <a:r>
              <a:rPr lang="tr-TR" altLang="tr-TR" dirty="0">
                <a:solidFill>
                  <a:srgbClr val="C00000"/>
                </a:solidFill>
              </a:rPr>
              <a:t> </a:t>
            </a:r>
            <a:r>
              <a:rPr lang="tr-TR" altLang="tr-TR" dirty="0" err="1">
                <a:solidFill>
                  <a:srgbClr val="C00000"/>
                </a:solidFill>
              </a:rPr>
              <a:t>and</a:t>
            </a:r>
            <a:r>
              <a:rPr lang="tr-TR" altLang="tr-TR" dirty="0">
                <a:solidFill>
                  <a:srgbClr val="C00000"/>
                </a:solidFill>
              </a:rPr>
              <a:t> </a:t>
            </a:r>
            <a:r>
              <a:rPr lang="tr-TR" altLang="tr-TR" dirty="0" err="1">
                <a:solidFill>
                  <a:srgbClr val="C00000"/>
                </a:solidFill>
              </a:rPr>
              <a:t>Signed</a:t>
            </a:r>
            <a:r>
              <a:rPr lang="tr-TR" altLang="tr-TR" dirty="0">
                <a:solidFill>
                  <a:srgbClr val="C00000"/>
                </a:solidFill>
              </a:rPr>
              <a:t> </a:t>
            </a:r>
            <a:r>
              <a:rPr lang="tr-TR" altLang="tr-TR" dirty="0" err="1">
                <a:solidFill>
                  <a:srgbClr val="C00000"/>
                </a:solidFill>
              </a:rPr>
              <a:t>Integers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75615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/>
          <a:p>
            <a:pPr marL="609600" indent="-609600" eaLnBrk="1" hangingPunct="1"/>
            <a:r>
              <a:rPr lang="tr-TR" altLang="tr-TR" sz="2800" dirty="0"/>
              <a:t>Örnek</a:t>
            </a:r>
          </a:p>
          <a:p>
            <a:pPr marL="400050" lvl="1" indent="0">
              <a:buNone/>
            </a:pPr>
            <a:r>
              <a:rPr lang="tr-TR" altLang="tr-TR" sz="2000" dirty="0">
                <a:latin typeface="Calibri (Gövde)"/>
              </a:rPr>
              <a:t>  </a:t>
            </a:r>
            <a:r>
              <a:rPr lang="tr-TR" altLang="tr-TR" sz="2400" b="1" dirty="0">
                <a:latin typeface="Calibri (Gövde)"/>
              </a:rPr>
              <a:t>-76 </a:t>
            </a:r>
            <a:r>
              <a:rPr lang="tr-TR" altLang="tr-TR" sz="2000" dirty="0" err="1">
                <a:latin typeface="Calibri (Gövde)"/>
              </a:rPr>
              <a:t>decimal</a:t>
            </a:r>
            <a:r>
              <a:rPr lang="tr-TR" altLang="tr-TR" sz="2000" dirty="0">
                <a:latin typeface="Calibri (Gövde)"/>
              </a:rPr>
              <a:t> sayısının kelime uzunluğundaki 2’ye </a:t>
            </a:r>
            <a:r>
              <a:rPr lang="tr-TR" altLang="tr-TR" sz="2000" dirty="0" err="1">
                <a:latin typeface="Calibri (Gövde)"/>
              </a:rPr>
              <a:t>tümleyen</a:t>
            </a:r>
            <a:r>
              <a:rPr lang="tr-TR" altLang="tr-TR" sz="2000" dirty="0">
                <a:latin typeface="Calibri (Gövde)"/>
              </a:rPr>
              <a:t> karşılığını bulmak için;</a:t>
            </a:r>
          </a:p>
          <a:p>
            <a:pPr lvl="1" indent="-342900">
              <a:buFont typeface="Wingdings" panose="05000000000000000000" pitchFamily="2" charset="2"/>
              <a:buChar char="§"/>
            </a:pPr>
            <a:r>
              <a:rPr lang="tr-TR" altLang="tr-TR" sz="2000" dirty="0">
                <a:latin typeface="Calibri (Gövde)"/>
              </a:rPr>
              <a:t>İşaretsiz 76 sayısının </a:t>
            </a:r>
            <a:r>
              <a:rPr lang="tr-TR" altLang="tr-TR" sz="2000" dirty="0" err="1">
                <a:latin typeface="Calibri (Gövde)"/>
              </a:rPr>
              <a:t>hexal</a:t>
            </a:r>
            <a:r>
              <a:rPr lang="tr-TR" altLang="tr-TR" sz="2000" dirty="0">
                <a:latin typeface="Calibri (Gövde)"/>
              </a:rPr>
              <a:t> karşılığı bulunur: 4C</a:t>
            </a:r>
          </a:p>
          <a:p>
            <a:pPr lvl="1" indent="-342900">
              <a:buFont typeface="Wingdings" panose="05000000000000000000" pitchFamily="2" charset="2"/>
              <a:buChar char="§"/>
            </a:pPr>
            <a:r>
              <a:rPr lang="tr-TR" altLang="tr-TR" sz="2000" dirty="0">
                <a:latin typeface="Calibri (Gövde)"/>
              </a:rPr>
              <a:t>Ardından 10000’den 4C çıkartılır.</a:t>
            </a:r>
          </a:p>
          <a:p>
            <a:pPr marL="2171700" lvl="5" indent="0">
              <a:buNone/>
            </a:pPr>
            <a:r>
              <a:rPr lang="tr-TR" altLang="tr-TR" sz="1800" dirty="0">
                <a:latin typeface="Calibri (Gövde)"/>
              </a:rPr>
              <a:t>10000</a:t>
            </a:r>
          </a:p>
          <a:p>
            <a:pPr marL="2171700" lvl="5" indent="0">
              <a:buNone/>
            </a:pPr>
            <a:r>
              <a:rPr lang="tr-TR" altLang="tr-TR" sz="1800" dirty="0">
                <a:latin typeface="Calibri (Gövde)"/>
              </a:rPr>
              <a:t>    -4C</a:t>
            </a:r>
          </a:p>
          <a:p>
            <a:pPr lvl="1" indent="-342900">
              <a:buFont typeface="Wingdings" panose="05000000000000000000" pitchFamily="2" charset="2"/>
              <a:buChar char="§"/>
            </a:pPr>
            <a:r>
              <a:rPr lang="tr-TR" sz="2000" dirty="0"/>
              <a:t>0’dan C çıkarılamayacağından 1000’den 1 borç alınır ve FFF kalır.</a:t>
            </a:r>
          </a:p>
          <a:p>
            <a:pPr marL="2171700" lvl="5" indent="0">
              <a:buNone/>
            </a:pPr>
            <a:r>
              <a:rPr lang="tr-TR" altLang="tr-TR" sz="1800" dirty="0">
                <a:latin typeface="Calibri (Gövde)"/>
              </a:rPr>
              <a:t>F </a:t>
            </a:r>
            <a:r>
              <a:rPr lang="tr-TR" altLang="tr-TR" sz="1800" dirty="0" err="1">
                <a:latin typeface="Calibri (Gövde)"/>
              </a:rPr>
              <a:t>F</a:t>
            </a:r>
            <a:r>
              <a:rPr lang="tr-TR" altLang="tr-TR" sz="1800" dirty="0">
                <a:latin typeface="Calibri (Gövde)"/>
              </a:rPr>
              <a:t> </a:t>
            </a:r>
            <a:r>
              <a:rPr lang="tr-TR" altLang="tr-TR" sz="1800" dirty="0" err="1">
                <a:latin typeface="Calibri (Gövde)"/>
              </a:rPr>
              <a:t>F</a:t>
            </a:r>
            <a:r>
              <a:rPr lang="tr-TR" altLang="tr-TR" sz="1800" dirty="0">
                <a:latin typeface="Calibri (Gövde)"/>
              </a:rPr>
              <a:t>  0</a:t>
            </a:r>
          </a:p>
          <a:p>
            <a:pPr marL="2171700" lvl="5" indent="0">
              <a:buNone/>
            </a:pPr>
            <a:r>
              <a:rPr lang="tr-TR" altLang="tr-TR" sz="1800" dirty="0">
                <a:latin typeface="Calibri (Gövde)"/>
              </a:rPr>
              <a:t>      -4 C </a:t>
            </a:r>
          </a:p>
          <a:p>
            <a:pPr marL="2171700" lvl="5" indent="0">
              <a:buNone/>
            </a:pPr>
            <a:r>
              <a:rPr lang="tr-TR" altLang="tr-TR" sz="1800" dirty="0">
                <a:latin typeface="Calibri (Gövde)"/>
              </a:rPr>
              <a:t>F </a:t>
            </a:r>
            <a:r>
              <a:rPr lang="tr-TR" altLang="tr-TR" sz="1800" dirty="0" err="1">
                <a:latin typeface="Calibri (Gövde)"/>
              </a:rPr>
              <a:t>F</a:t>
            </a:r>
            <a:r>
              <a:rPr lang="tr-TR" altLang="tr-TR" sz="1800" dirty="0">
                <a:latin typeface="Calibri (Gövde)"/>
              </a:rPr>
              <a:t> B  4</a:t>
            </a:r>
          </a:p>
          <a:p>
            <a:pPr lvl="1" indent="-342900">
              <a:buFont typeface="Wingdings" panose="05000000000000000000" pitchFamily="2" charset="2"/>
              <a:buChar char="§"/>
            </a:pPr>
            <a:endParaRPr lang="tr-TR" altLang="tr-TR" sz="2000" dirty="0">
              <a:latin typeface="Calibri (Gövde)"/>
            </a:endParaRPr>
          </a:p>
          <a:p>
            <a:pPr marL="1009650" lvl="1" indent="-609600"/>
            <a:endParaRPr lang="tr-TR" altLang="tr-TR" sz="2400" dirty="0"/>
          </a:p>
        </p:txBody>
      </p:sp>
      <p:sp>
        <p:nvSpPr>
          <p:cNvPr id="16" name="Slayt Numarası Yer Tutucusu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11</a:t>
            </a:fld>
            <a:endParaRPr lang="tr-TR" dirty="0"/>
          </a:p>
        </p:txBody>
      </p:sp>
      <p:cxnSp>
        <p:nvCxnSpPr>
          <p:cNvPr id="5" name="Düz Bağlayıcı 4"/>
          <p:cNvCxnSpPr/>
          <p:nvPr/>
        </p:nvCxnSpPr>
        <p:spPr>
          <a:xfrm>
            <a:off x="2411760" y="4221088"/>
            <a:ext cx="115212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Metin kutusu 5"/>
              <p:cNvSpPr txBox="1"/>
              <p:nvPr/>
            </p:nvSpPr>
            <p:spPr>
              <a:xfrm>
                <a:off x="4416996" y="5075311"/>
                <a:ext cx="3539380" cy="30777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dk1">
                    <a:shade val="95000"/>
                    <a:satMod val="105000"/>
                  </a:schemeClr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tr-TR" altLang="tr-TR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altLang="tr-TR" sz="14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tr-TR" altLang="tr-TR" sz="140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nor/>
                          </m:rPr>
                          <a:rPr lang="en-US" altLang="tr-TR" sz="1400" dirty="0"/>
                          <m:t> </m:t>
                        </m:r>
                      </m:e>
                      <m:sub>
                        <m:r>
                          <a:rPr lang="tr-TR" altLang="tr-TR" sz="1400" i="1">
                            <a:latin typeface="Cambria Math" panose="02040503050406030204" pitchFamily="18" charset="0"/>
                          </a:rPr>
                          <m:t>16</m:t>
                        </m:r>
                      </m:sub>
                    </m:sSub>
                  </m:oMath>
                </a14:m>
                <a:r>
                  <a:rPr lang="tr-TR" sz="1400" dirty="0"/>
                  <a:t> 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altLang="tr-T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tr-TR" altLang="tr-TR" sz="1400" b="0" i="0" smtClean="0"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m:rPr>
                            <m:nor/>
                          </m:rPr>
                          <a:rPr lang="en-US" altLang="tr-TR" sz="1400" dirty="0"/>
                          <m:t> </m:t>
                        </m:r>
                      </m:e>
                      <m:sub>
                        <m:r>
                          <a:rPr lang="tr-TR" altLang="tr-TR" sz="1400" i="1">
                            <a:latin typeface="Cambria Math" panose="02040503050406030204" pitchFamily="18" charset="0"/>
                          </a:rPr>
                          <m:t>16</m:t>
                        </m:r>
                      </m:sub>
                    </m:sSub>
                  </m:oMath>
                </a14:m>
                <a:r>
                  <a:rPr lang="tr-TR" sz="1400" dirty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altLang="tr-T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altLang="tr-TR" sz="1400" b="0" i="1" smtClean="0"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nor/>
                          </m:rPr>
                          <a:rPr lang="en-US" altLang="tr-TR" sz="1400" dirty="0"/>
                          <m:t> </m:t>
                        </m:r>
                      </m:e>
                      <m:sub>
                        <m:r>
                          <a:rPr lang="tr-TR" altLang="tr-TR" sz="1400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lang="tr-TR" sz="1400" dirty="0"/>
                  <a:t> 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altLang="tr-T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tr-TR" altLang="tr-TR" sz="1400" b="0" i="0" smtClean="0"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nor/>
                          </m:rPr>
                          <a:rPr lang="en-US" altLang="tr-TR" sz="1400" dirty="0"/>
                          <m:t> </m:t>
                        </m:r>
                      </m:e>
                      <m:sub>
                        <m:r>
                          <a:rPr lang="tr-TR" altLang="tr-TR" sz="1400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lang="tr-TR" sz="1400" dirty="0"/>
                  <a:t>=4  (in </a:t>
                </a:r>
                <a:r>
                  <a:rPr lang="tr-TR" sz="1400" dirty="0" err="1"/>
                  <a:t>decimal</a:t>
                </a:r>
                <a:r>
                  <a:rPr lang="tr-TR" sz="1400" dirty="0"/>
                  <a:t> </a:t>
                </a:r>
                <a:r>
                  <a:rPr lang="tr-TR" sz="1400" dirty="0" err="1"/>
                  <a:t>or</a:t>
                </a:r>
                <a:r>
                  <a:rPr lang="tr-TR" sz="1400" dirty="0"/>
                  <a:t> </a:t>
                </a:r>
                <a:r>
                  <a:rPr lang="tr-TR" sz="1400" dirty="0" err="1"/>
                  <a:t>hex</a:t>
                </a:r>
                <a:r>
                  <a:rPr lang="tr-TR" sz="1400" dirty="0"/>
                  <a:t>)</a:t>
                </a:r>
              </a:p>
            </p:txBody>
          </p:sp>
        </mc:Choice>
        <mc:Fallback xmlns="">
          <p:sp>
            <p:nvSpPr>
              <p:cNvPr id="6" name="Metin kutusu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6996" y="5075311"/>
                <a:ext cx="3539380" cy="307777"/>
              </a:xfrm>
              <a:prstGeom prst="rect">
                <a:avLst/>
              </a:prstGeom>
              <a:blipFill>
                <a:blip r:embed="rId3"/>
                <a:stretch>
                  <a:fillRect t="-1923" b="-17308"/>
                </a:stretch>
              </a:blipFill>
              <a:ln>
                <a:solidFill>
                  <a:schemeClr val="dk1">
                    <a:shade val="95000"/>
                    <a:satMod val="105000"/>
                  </a:schemeClr>
                </a:solidFill>
                <a:prstDash val="dash"/>
              </a:ln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Düz Bağlayıcı 7"/>
          <p:cNvCxnSpPr/>
          <p:nvPr/>
        </p:nvCxnSpPr>
        <p:spPr>
          <a:xfrm>
            <a:off x="2483768" y="5229200"/>
            <a:ext cx="115212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Metin kutusu 6"/>
          <p:cNvSpPr txBox="1"/>
          <p:nvPr/>
        </p:nvSpPr>
        <p:spPr>
          <a:xfrm>
            <a:off x="3215410" y="4546459"/>
            <a:ext cx="3600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000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Metin kutusu 9"/>
              <p:cNvSpPr txBox="1"/>
              <p:nvPr/>
            </p:nvSpPr>
            <p:spPr>
              <a:xfrm>
                <a:off x="4399958" y="5561941"/>
                <a:ext cx="3539380" cy="30777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dk1">
                    <a:shade val="95000"/>
                    <a:satMod val="105000"/>
                  </a:schemeClr>
                </a:solidFill>
                <a:prstDash val="dash"/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tr-TR" altLang="tr-TR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tr-TR" altLang="tr-TR" sz="1400" b="0" i="0" smtClean="0">
                            <a:latin typeface="Cambria Math" panose="02040503050406030204" pitchFamily="18" charset="0"/>
                          </a:rPr>
                          <m:t>F</m:t>
                        </m:r>
                        <m:r>
                          <m:rPr>
                            <m:nor/>
                          </m:rPr>
                          <a:rPr lang="en-US" altLang="tr-TR" sz="1400" dirty="0"/>
                          <m:t> </m:t>
                        </m:r>
                      </m:e>
                      <m:sub>
                        <m:r>
                          <a:rPr lang="tr-TR" altLang="tr-TR" sz="1400" i="1">
                            <a:latin typeface="Cambria Math" panose="02040503050406030204" pitchFamily="18" charset="0"/>
                          </a:rPr>
                          <m:t>16</m:t>
                        </m:r>
                      </m:sub>
                    </m:sSub>
                  </m:oMath>
                </a14:m>
                <a:r>
                  <a:rPr lang="tr-TR" sz="1400" dirty="0"/>
                  <a:t> -</a:t>
                </a:r>
                <a14:m>
                  <m:oMath xmlns:m="http://schemas.openxmlformats.org/officeDocument/2006/math">
                    <m:r>
                      <a:rPr lang="tr-TR" altLang="tr-TR" sz="1400" i="1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tr-TR" sz="1400" dirty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altLang="tr-T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altLang="tr-TR" sz="1400" b="0" i="1" smtClean="0"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m:rPr>
                            <m:nor/>
                          </m:rPr>
                          <a:rPr lang="en-US" altLang="tr-TR" sz="1400" dirty="0"/>
                          <m:t> </m:t>
                        </m:r>
                      </m:e>
                      <m:sub>
                        <m:r>
                          <a:rPr lang="tr-TR" altLang="tr-TR" sz="1400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lang="tr-TR" sz="1400" dirty="0"/>
                  <a:t> 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altLang="tr-T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tr-TR" altLang="tr-TR" sz="1400" b="0" i="0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nor/>
                          </m:rPr>
                          <a:rPr lang="en-US" altLang="tr-TR" sz="1400" dirty="0"/>
                          <m:t> </m:t>
                        </m:r>
                      </m:e>
                      <m:sub>
                        <m:r>
                          <a:rPr lang="tr-TR" altLang="tr-TR" sz="1400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lang="tr-TR" sz="1400" dirty="0"/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altLang="tr-T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tr-TR" altLang="tr-TR" sz="1400" b="0" i="0" smtClean="0">
                            <a:latin typeface="Cambria Math" panose="02040503050406030204" pitchFamily="18" charset="0"/>
                          </a:rPr>
                          <m:t>11</m:t>
                        </m:r>
                      </m:e>
                      <m:sub>
                        <m:r>
                          <a:rPr lang="tr-TR" altLang="tr-TR" sz="1400" i="1" dirty="0"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tr-TR" altLang="tr-TR" sz="14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tr-TR" altLang="tr-T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tr-TR" altLang="tr-TR" sz="1400" b="0" i="0" smtClean="0"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m:rPr>
                            <m:nor/>
                          </m:rPr>
                          <a:rPr lang="en-US" altLang="tr-TR" sz="1400" dirty="0"/>
                          <m:t> </m:t>
                        </m:r>
                      </m:e>
                      <m:sub>
                        <m:r>
                          <a:rPr lang="tr-TR" altLang="tr-TR" sz="1400" i="1">
                            <a:latin typeface="Cambria Math" panose="02040503050406030204" pitchFamily="18" charset="0"/>
                          </a:rPr>
                          <m:t>16</m:t>
                        </m:r>
                      </m:sub>
                    </m:sSub>
                  </m:oMath>
                </a14:m>
                <a:endParaRPr lang="tr-TR" sz="1400" dirty="0"/>
              </a:p>
            </p:txBody>
          </p:sp>
        </mc:Choice>
        <mc:Fallback xmlns="">
          <p:sp>
            <p:nvSpPr>
              <p:cNvPr id="10" name="Metin kutusu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99958" y="5561941"/>
                <a:ext cx="3539380" cy="307777"/>
              </a:xfrm>
              <a:prstGeom prst="rect">
                <a:avLst/>
              </a:prstGeom>
              <a:blipFill>
                <a:blip r:embed="rId4"/>
                <a:stretch>
                  <a:fillRect b="-16981"/>
                </a:stretch>
              </a:blipFill>
              <a:ln>
                <a:solidFill>
                  <a:schemeClr val="dk1">
                    <a:shade val="95000"/>
                    <a:satMod val="105000"/>
                  </a:schemeClr>
                </a:solidFill>
                <a:prstDash val="dash"/>
              </a:ln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50226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230188" y="296216"/>
            <a:ext cx="8229600" cy="1143000"/>
          </a:xfrm>
        </p:spPr>
        <p:txBody>
          <a:bodyPr/>
          <a:lstStyle/>
          <a:p>
            <a:r>
              <a:rPr lang="tr-TR" altLang="tr-TR" dirty="0" err="1">
                <a:solidFill>
                  <a:srgbClr val="C00000"/>
                </a:solidFill>
              </a:rPr>
              <a:t>Unsigned</a:t>
            </a:r>
            <a:r>
              <a:rPr lang="tr-TR" altLang="tr-TR" dirty="0">
                <a:solidFill>
                  <a:srgbClr val="C00000"/>
                </a:solidFill>
              </a:rPr>
              <a:t> </a:t>
            </a:r>
            <a:r>
              <a:rPr lang="tr-TR" altLang="tr-TR" dirty="0" err="1">
                <a:solidFill>
                  <a:srgbClr val="C00000"/>
                </a:solidFill>
              </a:rPr>
              <a:t>and</a:t>
            </a:r>
            <a:r>
              <a:rPr lang="tr-TR" altLang="tr-TR" dirty="0">
                <a:solidFill>
                  <a:srgbClr val="C00000"/>
                </a:solidFill>
              </a:rPr>
              <a:t> </a:t>
            </a:r>
            <a:r>
              <a:rPr lang="tr-TR" altLang="tr-TR" dirty="0" err="1">
                <a:solidFill>
                  <a:srgbClr val="C00000"/>
                </a:solidFill>
              </a:rPr>
              <a:t>Signed</a:t>
            </a:r>
            <a:r>
              <a:rPr lang="tr-TR" altLang="tr-TR" dirty="0">
                <a:solidFill>
                  <a:srgbClr val="C00000"/>
                </a:solidFill>
              </a:rPr>
              <a:t> </a:t>
            </a:r>
            <a:r>
              <a:rPr lang="tr-TR" altLang="tr-TR" dirty="0" err="1">
                <a:solidFill>
                  <a:srgbClr val="C00000"/>
                </a:solidFill>
              </a:rPr>
              <a:t>Integers</a:t>
            </a:r>
            <a:endParaRPr lang="tr-TR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457200" y="1600200"/>
                <a:ext cx="8229600" cy="4756150"/>
              </a:xfrm>
              <a:solidFill>
                <a:schemeClr val="bg1">
                  <a:lumMod val="95000"/>
                </a:schemeClr>
              </a:solidFill>
            </p:spPr>
            <p:txBody>
              <a:bodyPr>
                <a:normAutofit/>
              </a:bodyPr>
              <a:lstStyle/>
              <a:p>
                <a:pPr marL="609600" indent="-609600" eaLnBrk="1" hangingPunct="1"/>
                <a:r>
                  <a:rPr lang="tr-TR" altLang="tr-TR" sz="2800" dirty="0"/>
                  <a:t>Örnek</a:t>
                </a:r>
              </a:p>
              <a:p>
                <a:pPr lvl="1" indent="-342900"/>
                <a:r>
                  <a:rPr lang="tr-TR" altLang="tr-TR" sz="2400" dirty="0">
                    <a:latin typeface="Calibri (Gövde)"/>
                  </a:rPr>
                  <a:t>Kelime uzunluğundaki (</a:t>
                </a:r>
                <a:r>
                  <a:rPr lang="tr-TR" altLang="tr-TR" sz="2400" i="1" dirty="0" err="1">
                    <a:latin typeface="Calibri (Gövde)"/>
                  </a:rPr>
                  <a:t>word-length</a:t>
                </a:r>
                <a:r>
                  <a:rPr lang="tr-TR" altLang="tr-TR" sz="2400" dirty="0">
                    <a:latin typeface="Calibri (Gövde)"/>
                  </a:rPr>
                  <a:t>) 2’ye </a:t>
                </a:r>
                <a:r>
                  <a:rPr lang="tr-TR" altLang="tr-TR" sz="2400" dirty="0" err="1">
                    <a:latin typeface="Calibri (Gövde)"/>
                  </a:rPr>
                  <a:t>tümleyen</a:t>
                </a:r>
                <a:r>
                  <a:rPr lang="tr-TR" altLang="tr-TR" sz="2400" dirty="0">
                    <a:latin typeface="Calibri (Gövde)"/>
                  </a:rPr>
                  <a:t> E973 sayısı negatif bir sayıyı temsil eder.</a:t>
                </a:r>
              </a:p>
              <a:p>
                <a:pPr lvl="2" indent="-342900"/>
                <a:r>
                  <a:rPr lang="tr-TR" altLang="tr-TR" sz="1600" dirty="0">
                    <a:latin typeface="Calibri (Gövde)"/>
                  </a:rPr>
                  <a:t>Çünkü işaret biti 1’dir (E=1110)</a:t>
                </a:r>
              </a:p>
              <a:p>
                <a:pPr lvl="2" indent="-342900"/>
                <a:endParaRPr lang="tr-TR" altLang="tr-TR" sz="1600" dirty="0">
                  <a:latin typeface="Calibri (Gövde)"/>
                </a:endParaRPr>
              </a:p>
              <a:p>
                <a:pPr marL="800100" lvl="2" indent="0">
                  <a:buNone/>
                </a:pPr>
                <a:r>
                  <a:rPr lang="tr-TR" altLang="tr-TR" sz="1600" dirty="0">
                    <a:latin typeface="Calibri (Gövde)"/>
                  </a:rPr>
                  <a:t>Sayının 2’ye </a:t>
                </a:r>
                <a:r>
                  <a:rPr lang="tr-TR" altLang="tr-TR" sz="1600" dirty="0" err="1">
                    <a:latin typeface="Calibri (Gövde)"/>
                  </a:rPr>
                  <a:t>tümleyenini</a:t>
                </a:r>
                <a:r>
                  <a:rPr lang="tr-TR" altLang="tr-TR" sz="1600" dirty="0">
                    <a:latin typeface="Calibri (Gövde)"/>
                  </a:rPr>
                  <a:t> almak karşılık gelen pozitif sayıyı bulur.</a:t>
                </a:r>
              </a:p>
              <a:p>
                <a:pPr marL="800100" lvl="2" indent="0">
                  <a:buNone/>
                </a:pPr>
                <a:endParaRPr lang="tr-TR" altLang="tr-TR" sz="1600" dirty="0">
                  <a:latin typeface="Calibri (Gövde)"/>
                </a:endParaRPr>
              </a:p>
              <a:p>
                <a:pPr marL="800100" lvl="2" indent="0">
                  <a:buNone/>
                </a:pPr>
                <a:r>
                  <a:rPr lang="tr-TR" altLang="tr-TR" sz="1600" dirty="0">
                    <a:latin typeface="Calibri (Gövde)"/>
                  </a:rPr>
                  <a:t>10000 – E973 = 168D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altLang="tr-T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altLang="tr-TR" sz="1600" b="0" i="1" smtClean="0">
                            <a:latin typeface="Cambria Math" panose="02040503050406030204" pitchFamily="18" charset="0"/>
                          </a:rPr>
                          <m:t>5773</m:t>
                        </m:r>
                        <m:r>
                          <m:rPr>
                            <m:nor/>
                          </m:rPr>
                          <a:rPr lang="en-US" altLang="tr-TR" sz="1600" dirty="0"/>
                          <m:t> </m:t>
                        </m:r>
                      </m:e>
                      <m:sub>
                        <m:r>
                          <a:rPr lang="tr-TR" altLang="tr-TR" sz="16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tr-TR" altLang="tr-TR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tr-TR" altLang="tr-TR" sz="1600" dirty="0">
                  <a:latin typeface="Calibri (Gövde)"/>
                </a:endParaRPr>
              </a:p>
              <a:p>
                <a:pPr marL="800100" lvl="2" indent="0">
                  <a:buNone/>
                </a:pPr>
                <a:endParaRPr lang="tr-TR" altLang="tr-TR" sz="1600" dirty="0">
                  <a:latin typeface="Calibri (Gövde)"/>
                </a:endParaRPr>
              </a:p>
              <a:p>
                <a:pPr marL="800100" lvl="2" indent="0">
                  <a:buNone/>
                </a:pPr>
                <a:r>
                  <a:rPr lang="tr-TR" altLang="tr-TR" sz="1600" dirty="0">
                    <a:latin typeface="Calibri (Gövde)"/>
                  </a:rPr>
                  <a:t>Bu şu anlama gelir: </a:t>
                </a:r>
                <a:r>
                  <a:rPr lang="tr-TR" altLang="tr-TR" sz="1600" b="1" dirty="0">
                    <a:latin typeface="Calibri (Gövde)"/>
                  </a:rPr>
                  <a:t>E973</a:t>
                </a:r>
                <a:r>
                  <a:rPr lang="tr-TR" altLang="tr-TR" sz="1600" dirty="0">
                    <a:latin typeface="Calibri (Gövde)"/>
                  </a:rPr>
                  <a:t> ile temsil edilen </a:t>
                </a:r>
                <a:r>
                  <a:rPr lang="tr-TR" altLang="tr-TR" sz="1600" dirty="0" err="1">
                    <a:latin typeface="Calibri (Gövde)"/>
                  </a:rPr>
                  <a:t>decimal</a:t>
                </a:r>
                <a:r>
                  <a:rPr lang="tr-TR" altLang="tr-TR" sz="1600" dirty="0">
                    <a:latin typeface="Calibri (Gövde)"/>
                  </a:rPr>
                  <a:t> sayı </a:t>
                </a:r>
                <a:r>
                  <a:rPr lang="tr-TR" altLang="tr-TR" sz="1600" b="1" dirty="0">
                    <a:latin typeface="Calibri (Gövde)"/>
                  </a:rPr>
                  <a:t>-5773</a:t>
                </a:r>
                <a:r>
                  <a:rPr lang="tr-TR" altLang="tr-TR" sz="1600" dirty="0">
                    <a:latin typeface="Calibri (Gövde)"/>
                  </a:rPr>
                  <a:t>’tür</a:t>
                </a:r>
              </a:p>
              <a:p>
                <a:pPr marL="1009650" lvl="1" indent="-609600"/>
                <a:endParaRPr lang="tr-TR" altLang="tr-TR" sz="2400" dirty="0"/>
              </a:p>
            </p:txBody>
          </p:sp>
        </mc:Choice>
        <mc:Fallback>
          <p:sp>
            <p:nvSpPr>
              <p:cNvPr id="4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756150"/>
              </a:xfrm>
              <a:blipFill>
                <a:blip r:embed="rId3"/>
                <a:stretch>
                  <a:fillRect l="-1333" t="-1282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Slayt Numarası Yer Tutucusu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12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3781075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230188" y="296216"/>
            <a:ext cx="8229600" cy="1143000"/>
          </a:xfrm>
        </p:spPr>
        <p:txBody>
          <a:bodyPr/>
          <a:lstStyle/>
          <a:p>
            <a:r>
              <a:rPr lang="tr-TR" altLang="tr-TR" dirty="0" err="1">
                <a:solidFill>
                  <a:srgbClr val="C00000"/>
                </a:solidFill>
              </a:rPr>
              <a:t>Unsigned</a:t>
            </a:r>
            <a:r>
              <a:rPr lang="tr-TR" altLang="tr-TR" dirty="0">
                <a:solidFill>
                  <a:srgbClr val="C00000"/>
                </a:solidFill>
              </a:rPr>
              <a:t> </a:t>
            </a:r>
            <a:r>
              <a:rPr lang="tr-TR" altLang="tr-TR" dirty="0" err="1">
                <a:solidFill>
                  <a:srgbClr val="C00000"/>
                </a:solidFill>
              </a:rPr>
              <a:t>and</a:t>
            </a:r>
            <a:r>
              <a:rPr lang="tr-TR" altLang="tr-TR" dirty="0">
                <a:solidFill>
                  <a:srgbClr val="C00000"/>
                </a:solidFill>
              </a:rPr>
              <a:t> </a:t>
            </a:r>
            <a:r>
              <a:rPr lang="tr-TR" altLang="tr-TR" dirty="0" err="1">
                <a:solidFill>
                  <a:srgbClr val="C00000"/>
                </a:solidFill>
              </a:rPr>
              <a:t>Signed</a:t>
            </a:r>
            <a:r>
              <a:rPr lang="tr-TR" altLang="tr-TR" dirty="0">
                <a:solidFill>
                  <a:srgbClr val="C00000"/>
                </a:solidFill>
              </a:rPr>
              <a:t> </a:t>
            </a:r>
            <a:r>
              <a:rPr lang="tr-TR" altLang="tr-TR" dirty="0" err="1">
                <a:solidFill>
                  <a:srgbClr val="C00000"/>
                </a:solidFill>
              </a:rPr>
              <a:t>Integers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609600" indent="-609600" eaLnBrk="1" hangingPunct="1"/>
            <a:r>
              <a:rPr lang="tr-TR" altLang="tr-TR" sz="2800" dirty="0"/>
              <a:t>2’ye </a:t>
            </a:r>
            <a:r>
              <a:rPr lang="tr-TR" altLang="tr-TR" sz="2800" dirty="0" err="1"/>
              <a:t>tümleyen</a:t>
            </a:r>
            <a:r>
              <a:rPr lang="tr-TR" altLang="tr-TR" sz="2800" dirty="0"/>
              <a:t> gösterim sabit uzunluklu olduğundan, açıkça görülür ki maksimum gösterilebilecek sayı vardır.</a:t>
            </a:r>
          </a:p>
          <a:p>
            <a:pPr marL="609600" indent="-609600" eaLnBrk="1" hangingPunct="1"/>
            <a:r>
              <a:rPr lang="tr-TR" altLang="tr-TR" sz="2800" dirty="0">
                <a:latin typeface="Calibri (Gövde)"/>
              </a:rPr>
              <a:t>Kelime (Word) için en büyük pozitif sayı:7FFF</a:t>
            </a:r>
          </a:p>
          <a:p>
            <a:pPr marL="609600" indent="-609600" eaLnBrk="1" hangingPunct="1"/>
            <a:r>
              <a:rPr lang="tr-TR" altLang="tr-TR" sz="2800" dirty="0">
                <a:latin typeface="Calibri (Gövde)"/>
              </a:rPr>
              <a:t>7FFF, 32767 </a:t>
            </a:r>
            <a:r>
              <a:rPr lang="tr-TR" altLang="tr-TR" sz="2800" dirty="0" err="1">
                <a:latin typeface="Calibri (Gövde)"/>
              </a:rPr>
              <a:t>decimal</a:t>
            </a:r>
            <a:r>
              <a:rPr lang="tr-TR" altLang="tr-TR" sz="2800" dirty="0">
                <a:latin typeface="Calibri (Gövde)"/>
              </a:rPr>
              <a:t> sayısına eşittir.</a:t>
            </a:r>
          </a:p>
          <a:p>
            <a:pPr marL="609600" indent="-609600" eaLnBrk="1" hangingPunct="1"/>
            <a:r>
              <a:rPr lang="tr-TR" altLang="tr-TR" sz="2800" dirty="0" err="1">
                <a:latin typeface="Calibri (Gövde)"/>
              </a:rPr>
              <a:t>Hexal</a:t>
            </a:r>
            <a:r>
              <a:rPr lang="tr-TR" altLang="tr-TR" sz="2800" dirty="0">
                <a:latin typeface="Calibri (Gövde)"/>
              </a:rPr>
              <a:t> olarak gösterilen pozitif sayılar, en soldaki 0-7 arasındaki dijitten anlaşılır.</a:t>
            </a:r>
          </a:p>
          <a:p>
            <a:pPr marL="609600" indent="-609600" eaLnBrk="1" hangingPunct="1"/>
            <a:r>
              <a:rPr lang="tr-TR" altLang="tr-TR" sz="2800" dirty="0">
                <a:latin typeface="Calibri (Gövde)"/>
              </a:rPr>
              <a:t>Negatif sayılar ise en soldaki değeri 1 olan bitten anlaşılır.</a:t>
            </a:r>
          </a:p>
          <a:p>
            <a:pPr marL="1009650" lvl="1" indent="-609600"/>
            <a:r>
              <a:rPr lang="tr-TR" altLang="tr-TR" sz="2000" dirty="0">
                <a:latin typeface="Calibri (Gövde)"/>
              </a:rPr>
              <a:t>Bu da  8 ile F arasındaki </a:t>
            </a:r>
            <a:r>
              <a:rPr lang="tr-TR" altLang="tr-TR" sz="2000" dirty="0" err="1">
                <a:latin typeface="Calibri (Gövde)"/>
              </a:rPr>
              <a:t>hexal</a:t>
            </a:r>
            <a:r>
              <a:rPr lang="tr-TR" altLang="tr-TR" sz="2000" dirty="0">
                <a:latin typeface="Calibri (Gövde)"/>
              </a:rPr>
              <a:t> dijite karşılık gelir.</a:t>
            </a:r>
          </a:p>
          <a:p>
            <a:pPr lvl="1" indent="-342900">
              <a:buFont typeface="Wingdings" panose="05000000000000000000" pitchFamily="2" charset="2"/>
              <a:buChar char="Ø"/>
            </a:pPr>
            <a:r>
              <a:rPr lang="tr-TR" altLang="tr-TR" sz="2000" dirty="0">
                <a:latin typeface="Calibri (Gövde)"/>
              </a:rPr>
              <a:t>8000 </a:t>
            </a:r>
            <a:r>
              <a:rPr lang="tr-TR" altLang="tr-TR" sz="2000" dirty="0" err="1">
                <a:latin typeface="Calibri (Gövde)"/>
              </a:rPr>
              <a:t>hexal</a:t>
            </a:r>
            <a:r>
              <a:rPr lang="tr-TR" altLang="tr-TR" sz="2000" dirty="0">
                <a:latin typeface="Calibri (Gövde)"/>
              </a:rPr>
              <a:t> sayısı, -32768’e karşılık gelir.</a:t>
            </a:r>
          </a:p>
          <a:p>
            <a:pPr marL="400050" lvl="1" indent="0">
              <a:buNone/>
            </a:pPr>
            <a:endParaRPr lang="tr-TR" altLang="tr-TR" sz="2000" dirty="0">
              <a:latin typeface="Calibri (Gövde)"/>
            </a:endParaRPr>
          </a:p>
        </p:txBody>
      </p:sp>
      <p:sp>
        <p:nvSpPr>
          <p:cNvPr id="16" name="Slayt Numarası Yer Tutucusu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13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9820153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230188" y="296216"/>
            <a:ext cx="8229600" cy="1143000"/>
          </a:xfrm>
        </p:spPr>
        <p:txBody>
          <a:bodyPr/>
          <a:lstStyle/>
          <a:p>
            <a:r>
              <a:rPr lang="tr-TR" altLang="tr-TR" dirty="0" err="1">
                <a:solidFill>
                  <a:srgbClr val="C00000"/>
                </a:solidFill>
              </a:rPr>
              <a:t>Unsigned</a:t>
            </a:r>
            <a:r>
              <a:rPr lang="tr-TR" altLang="tr-TR" dirty="0">
                <a:solidFill>
                  <a:srgbClr val="C00000"/>
                </a:solidFill>
              </a:rPr>
              <a:t> </a:t>
            </a:r>
            <a:r>
              <a:rPr lang="tr-TR" altLang="tr-TR" dirty="0" err="1">
                <a:solidFill>
                  <a:srgbClr val="C00000"/>
                </a:solidFill>
              </a:rPr>
              <a:t>and</a:t>
            </a:r>
            <a:r>
              <a:rPr lang="tr-TR" altLang="tr-TR" dirty="0">
                <a:solidFill>
                  <a:srgbClr val="C00000"/>
                </a:solidFill>
              </a:rPr>
              <a:t> </a:t>
            </a:r>
            <a:r>
              <a:rPr lang="tr-TR" altLang="tr-TR" dirty="0" err="1">
                <a:solidFill>
                  <a:srgbClr val="C00000"/>
                </a:solidFill>
              </a:rPr>
              <a:t>Signed</a:t>
            </a:r>
            <a:r>
              <a:rPr lang="tr-TR" altLang="tr-TR" dirty="0">
                <a:solidFill>
                  <a:srgbClr val="C00000"/>
                </a:solidFill>
              </a:rPr>
              <a:t> </a:t>
            </a:r>
            <a:r>
              <a:rPr lang="tr-TR" altLang="tr-TR" dirty="0" err="1">
                <a:solidFill>
                  <a:srgbClr val="C00000"/>
                </a:solidFill>
              </a:rPr>
              <a:t>Integers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75615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/>
          <a:p>
            <a:pPr marL="609600" indent="-609600" eaLnBrk="1" hangingPunct="1"/>
            <a:r>
              <a:rPr lang="tr-TR" altLang="tr-TR" sz="2800" dirty="0"/>
              <a:t>Alıştırmalar</a:t>
            </a:r>
          </a:p>
          <a:p>
            <a:pPr marL="1009650" lvl="1" indent="-609600">
              <a:buFont typeface="+mj-lt"/>
              <a:buAutoNum type="alphaLcParenR"/>
            </a:pPr>
            <a:r>
              <a:rPr lang="tr-TR" altLang="tr-TR" sz="2400" dirty="0"/>
              <a:t>3874</a:t>
            </a:r>
          </a:p>
          <a:p>
            <a:pPr marL="1009650" lvl="1" indent="-609600">
              <a:buFont typeface="+mj-lt"/>
              <a:buAutoNum type="alphaLcParenR"/>
            </a:pPr>
            <a:r>
              <a:rPr lang="tr-TR" altLang="tr-TR" sz="2400" dirty="0"/>
              <a:t>1000000</a:t>
            </a:r>
          </a:p>
          <a:p>
            <a:pPr marL="1009650" lvl="1" indent="-609600">
              <a:buFont typeface="+mj-lt"/>
              <a:buAutoNum type="alphaLcParenR"/>
            </a:pPr>
            <a:r>
              <a:rPr lang="tr-TR" altLang="tr-TR" sz="2400" dirty="0"/>
              <a:t>-100</a:t>
            </a:r>
          </a:p>
          <a:p>
            <a:pPr marL="1009650" lvl="1" indent="-609600">
              <a:buFont typeface="+mj-lt"/>
              <a:buAutoNum type="alphaLcParenR"/>
            </a:pPr>
            <a:r>
              <a:rPr lang="tr-TR" altLang="tr-TR" sz="2400" dirty="0"/>
              <a:t>-5555</a:t>
            </a:r>
          </a:p>
          <a:p>
            <a:pPr marL="1009650" lvl="1" indent="-609600">
              <a:buFont typeface="+mj-lt"/>
              <a:buAutoNum type="alphaLcParenR"/>
            </a:pPr>
            <a:r>
              <a:rPr lang="tr-TR" altLang="tr-TR" sz="2400" dirty="0"/>
              <a:t>-4</a:t>
            </a:r>
          </a:p>
          <a:p>
            <a:pPr marL="1009650" lvl="1" indent="-609600">
              <a:buFont typeface="+mj-lt"/>
              <a:buAutoNum type="alphaLcParenR"/>
            </a:pPr>
            <a:r>
              <a:rPr lang="tr-TR" altLang="tr-TR" sz="2400" dirty="0"/>
              <a:t>32767</a:t>
            </a:r>
          </a:p>
          <a:p>
            <a:pPr marL="609600" indent="-609600" eaLnBrk="1" hangingPunct="1">
              <a:buFont typeface="+mj-lt"/>
              <a:buAutoNum type="alphaLcParenR"/>
            </a:pPr>
            <a:endParaRPr lang="tr-TR" altLang="tr-TR" sz="2800" dirty="0"/>
          </a:p>
          <a:p>
            <a:pPr marL="1009650" lvl="1" indent="-609600"/>
            <a:endParaRPr lang="tr-TR" altLang="tr-TR" sz="2400" dirty="0"/>
          </a:p>
        </p:txBody>
      </p:sp>
      <p:sp>
        <p:nvSpPr>
          <p:cNvPr id="16" name="Slayt Numarası Yer Tutucusu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14</a:t>
            </a:fld>
            <a:endParaRPr lang="tr-TR" dirty="0"/>
          </a:p>
        </p:txBody>
      </p:sp>
      <p:sp>
        <p:nvSpPr>
          <p:cNvPr id="3" name="Metin kutusu 2"/>
          <p:cNvSpPr txBox="1"/>
          <p:nvPr/>
        </p:nvSpPr>
        <p:spPr>
          <a:xfrm>
            <a:off x="457200" y="1172888"/>
            <a:ext cx="836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Aşağıdaki </a:t>
            </a:r>
            <a:r>
              <a:rPr lang="tr-TR" dirty="0" err="1"/>
              <a:t>decimal</a:t>
            </a:r>
            <a:r>
              <a:rPr lang="tr-TR" dirty="0"/>
              <a:t> sayıların  </a:t>
            </a:r>
            <a:r>
              <a:rPr lang="tr-TR" i="1" dirty="0" err="1"/>
              <a:t>doubleword-length</a:t>
            </a:r>
            <a:r>
              <a:rPr lang="tr-TR" dirty="0"/>
              <a:t> 2’ye </a:t>
            </a:r>
            <a:r>
              <a:rPr lang="tr-TR" dirty="0" err="1"/>
              <a:t>tümleyen</a:t>
            </a:r>
            <a:r>
              <a:rPr lang="tr-TR" dirty="0"/>
              <a:t> gösterimlerini bulunuz</a:t>
            </a:r>
          </a:p>
        </p:txBody>
      </p:sp>
    </p:spTree>
    <p:extLst>
      <p:ext uri="{BB962C8B-B14F-4D97-AF65-F5344CB8AC3E}">
        <p14:creationId xmlns:p14="http://schemas.microsoft.com/office/powerpoint/2010/main" val="227947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230188" y="296216"/>
            <a:ext cx="8229600" cy="1143000"/>
          </a:xfrm>
        </p:spPr>
        <p:txBody>
          <a:bodyPr/>
          <a:lstStyle/>
          <a:p>
            <a:r>
              <a:rPr lang="tr-TR" altLang="tr-TR" dirty="0" err="1">
                <a:solidFill>
                  <a:srgbClr val="C00000"/>
                </a:solidFill>
              </a:rPr>
              <a:t>Unsigned</a:t>
            </a:r>
            <a:r>
              <a:rPr lang="tr-TR" altLang="tr-TR" dirty="0">
                <a:solidFill>
                  <a:srgbClr val="C00000"/>
                </a:solidFill>
              </a:rPr>
              <a:t> </a:t>
            </a:r>
            <a:r>
              <a:rPr lang="tr-TR" altLang="tr-TR" dirty="0" err="1">
                <a:solidFill>
                  <a:srgbClr val="C00000"/>
                </a:solidFill>
              </a:rPr>
              <a:t>and</a:t>
            </a:r>
            <a:r>
              <a:rPr lang="tr-TR" altLang="tr-TR" dirty="0">
                <a:solidFill>
                  <a:srgbClr val="C00000"/>
                </a:solidFill>
              </a:rPr>
              <a:t> </a:t>
            </a:r>
            <a:r>
              <a:rPr lang="tr-TR" altLang="tr-TR" dirty="0" err="1">
                <a:solidFill>
                  <a:srgbClr val="C00000"/>
                </a:solidFill>
              </a:rPr>
              <a:t>Signed</a:t>
            </a:r>
            <a:r>
              <a:rPr lang="tr-TR" altLang="tr-TR" dirty="0">
                <a:solidFill>
                  <a:srgbClr val="C00000"/>
                </a:solidFill>
              </a:rPr>
              <a:t> </a:t>
            </a:r>
            <a:r>
              <a:rPr lang="tr-TR" altLang="tr-TR" dirty="0" err="1">
                <a:solidFill>
                  <a:srgbClr val="C00000"/>
                </a:solidFill>
              </a:rPr>
              <a:t>Integers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75615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/>
          <a:p>
            <a:pPr marL="609600" indent="-609600" eaLnBrk="1" hangingPunct="1"/>
            <a:r>
              <a:rPr lang="tr-TR" altLang="tr-TR" sz="2800" dirty="0"/>
              <a:t>Alıştırmalar</a:t>
            </a:r>
          </a:p>
          <a:p>
            <a:pPr marL="1009650" lvl="1" indent="-609600">
              <a:buFont typeface="+mj-lt"/>
              <a:buAutoNum type="alphaLcParenR"/>
            </a:pPr>
            <a:r>
              <a:rPr lang="tr-TR" altLang="tr-TR" sz="2400" dirty="0"/>
              <a:t>23</a:t>
            </a:r>
          </a:p>
          <a:p>
            <a:pPr marL="1009650" lvl="1" indent="-609600">
              <a:buFont typeface="+mj-lt"/>
              <a:buAutoNum type="alphaLcParenR"/>
            </a:pPr>
            <a:r>
              <a:rPr lang="tr-TR" altLang="tr-TR" sz="2400" dirty="0"/>
              <a:t>111</a:t>
            </a:r>
          </a:p>
          <a:p>
            <a:pPr marL="1009650" lvl="1" indent="-609600">
              <a:buFont typeface="+mj-lt"/>
              <a:buAutoNum type="alphaLcParenR"/>
            </a:pPr>
            <a:r>
              <a:rPr lang="tr-TR" altLang="tr-TR" sz="2400" dirty="0"/>
              <a:t>-100</a:t>
            </a:r>
          </a:p>
          <a:p>
            <a:pPr marL="1009650" lvl="1" indent="-609600">
              <a:buFont typeface="+mj-lt"/>
              <a:buAutoNum type="alphaLcParenR"/>
            </a:pPr>
            <a:r>
              <a:rPr lang="tr-TR" altLang="tr-TR" sz="2400" dirty="0"/>
              <a:t>-55</a:t>
            </a:r>
          </a:p>
          <a:p>
            <a:pPr marL="1009650" lvl="1" indent="-609600">
              <a:buFont typeface="+mj-lt"/>
              <a:buAutoNum type="alphaLcParenR"/>
            </a:pPr>
            <a:r>
              <a:rPr lang="tr-TR" altLang="tr-TR" sz="2400" dirty="0"/>
              <a:t>99</a:t>
            </a:r>
          </a:p>
          <a:p>
            <a:pPr marL="1009650" lvl="1" indent="-609600">
              <a:buFont typeface="+mj-lt"/>
              <a:buAutoNum type="alphaLcParenR"/>
            </a:pPr>
            <a:r>
              <a:rPr lang="tr-TR" altLang="tr-TR" sz="2400" dirty="0"/>
              <a:t>-15</a:t>
            </a:r>
          </a:p>
          <a:p>
            <a:pPr marL="609600" indent="-609600" eaLnBrk="1" hangingPunct="1">
              <a:buFont typeface="+mj-lt"/>
              <a:buAutoNum type="alphaLcParenR"/>
            </a:pPr>
            <a:endParaRPr lang="tr-TR" altLang="tr-TR" sz="2800" dirty="0"/>
          </a:p>
          <a:p>
            <a:pPr marL="1009650" lvl="1" indent="-609600"/>
            <a:endParaRPr lang="tr-TR" altLang="tr-TR" sz="2400" dirty="0"/>
          </a:p>
        </p:txBody>
      </p:sp>
      <p:sp>
        <p:nvSpPr>
          <p:cNvPr id="16" name="Slayt Numarası Yer Tutucusu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15</a:t>
            </a:fld>
            <a:endParaRPr lang="tr-TR" dirty="0"/>
          </a:p>
        </p:txBody>
      </p:sp>
      <p:sp>
        <p:nvSpPr>
          <p:cNvPr id="3" name="Metin kutusu 2"/>
          <p:cNvSpPr txBox="1"/>
          <p:nvPr/>
        </p:nvSpPr>
        <p:spPr>
          <a:xfrm>
            <a:off x="457200" y="1172888"/>
            <a:ext cx="8363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Aşağıdaki </a:t>
            </a:r>
            <a:r>
              <a:rPr lang="tr-TR" dirty="0" err="1"/>
              <a:t>decimal</a:t>
            </a:r>
            <a:r>
              <a:rPr lang="tr-TR" dirty="0"/>
              <a:t> sayıların  </a:t>
            </a:r>
            <a:r>
              <a:rPr lang="tr-TR" i="1" dirty="0" err="1"/>
              <a:t>byte-length</a:t>
            </a:r>
            <a:r>
              <a:rPr lang="tr-TR" dirty="0"/>
              <a:t> 2’ye </a:t>
            </a:r>
            <a:r>
              <a:rPr lang="tr-TR" dirty="0" err="1"/>
              <a:t>tümleyen</a:t>
            </a:r>
            <a:r>
              <a:rPr lang="tr-TR" dirty="0"/>
              <a:t> gösterimlerini bulunuz</a:t>
            </a:r>
          </a:p>
        </p:txBody>
      </p:sp>
    </p:spTree>
    <p:extLst>
      <p:ext uri="{BB962C8B-B14F-4D97-AF65-F5344CB8AC3E}">
        <p14:creationId xmlns:p14="http://schemas.microsoft.com/office/powerpoint/2010/main" val="18284118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251520" y="243544"/>
            <a:ext cx="8229600" cy="1143000"/>
          </a:xfrm>
        </p:spPr>
        <p:txBody>
          <a:bodyPr/>
          <a:lstStyle/>
          <a:p>
            <a:r>
              <a:rPr lang="tr-TR" altLang="tr-TR" dirty="0" err="1">
                <a:solidFill>
                  <a:srgbClr val="C00000"/>
                </a:solidFill>
              </a:rPr>
              <a:t>Unsigned</a:t>
            </a:r>
            <a:r>
              <a:rPr lang="tr-TR" altLang="tr-TR" dirty="0">
                <a:solidFill>
                  <a:srgbClr val="C00000"/>
                </a:solidFill>
              </a:rPr>
              <a:t> </a:t>
            </a:r>
            <a:r>
              <a:rPr lang="tr-TR" altLang="tr-TR" dirty="0" err="1">
                <a:solidFill>
                  <a:srgbClr val="C00000"/>
                </a:solidFill>
              </a:rPr>
              <a:t>and</a:t>
            </a:r>
            <a:r>
              <a:rPr lang="tr-TR" altLang="tr-TR" dirty="0">
                <a:solidFill>
                  <a:srgbClr val="C00000"/>
                </a:solidFill>
              </a:rPr>
              <a:t> </a:t>
            </a:r>
            <a:r>
              <a:rPr lang="tr-TR" altLang="tr-TR" dirty="0" err="1">
                <a:solidFill>
                  <a:srgbClr val="C00000"/>
                </a:solidFill>
              </a:rPr>
              <a:t>Signed</a:t>
            </a:r>
            <a:r>
              <a:rPr lang="tr-TR" altLang="tr-TR" dirty="0">
                <a:solidFill>
                  <a:srgbClr val="C00000"/>
                </a:solidFill>
              </a:rPr>
              <a:t> </a:t>
            </a:r>
            <a:r>
              <a:rPr lang="tr-TR" altLang="tr-TR" dirty="0" err="1">
                <a:solidFill>
                  <a:srgbClr val="C00000"/>
                </a:solidFill>
              </a:rPr>
              <a:t>Integers</a:t>
            </a:r>
            <a:endParaRPr lang="tr-TR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769577"/>
            <a:ext cx="8229600" cy="4756150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/>
          <a:p>
            <a:pPr marL="609600" indent="-609600" eaLnBrk="1" hangingPunct="1"/>
            <a:r>
              <a:rPr lang="tr-TR" altLang="tr-TR" sz="2800" dirty="0"/>
              <a:t>Alıştırmalar</a:t>
            </a:r>
          </a:p>
          <a:p>
            <a:pPr marL="1009650" lvl="1" indent="-609600">
              <a:buFont typeface="+mj-lt"/>
              <a:buAutoNum type="alphaLcParenR"/>
            </a:pPr>
            <a:r>
              <a:rPr lang="tr-TR" altLang="tr-TR" sz="2400" dirty="0"/>
              <a:t>00 A3</a:t>
            </a:r>
          </a:p>
          <a:p>
            <a:pPr marL="1009650" lvl="1" indent="-609600">
              <a:buFont typeface="+mj-lt"/>
              <a:buAutoNum type="alphaLcParenR"/>
            </a:pPr>
            <a:r>
              <a:rPr lang="tr-TR" altLang="tr-TR" sz="2400" dirty="0"/>
              <a:t>FF FE</a:t>
            </a:r>
          </a:p>
          <a:p>
            <a:pPr marL="1009650" lvl="1" indent="-609600">
              <a:buFont typeface="+mj-lt"/>
              <a:buAutoNum type="alphaLcParenR"/>
            </a:pPr>
            <a:r>
              <a:rPr lang="tr-TR" altLang="tr-TR" sz="2400" dirty="0"/>
              <a:t>6F 20</a:t>
            </a:r>
          </a:p>
          <a:p>
            <a:pPr marL="1009650" lvl="1" indent="-609600">
              <a:buFont typeface="+mj-lt"/>
              <a:buAutoNum type="alphaLcParenR"/>
            </a:pPr>
            <a:r>
              <a:rPr lang="tr-TR" altLang="tr-TR" sz="2400" dirty="0"/>
              <a:t>B6 4A</a:t>
            </a:r>
          </a:p>
          <a:p>
            <a:pPr marL="1009650" lvl="1" indent="-609600">
              <a:buFont typeface="+mj-lt"/>
              <a:buAutoNum type="alphaLcParenR"/>
            </a:pPr>
            <a:r>
              <a:rPr lang="tr-TR" altLang="tr-TR" sz="2400" dirty="0"/>
              <a:t>AB 05</a:t>
            </a:r>
          </a:p>
          <a:p>
            <a:pPr marL="1009650" lvl="1" indent="-609600">
              <a:buFont typeface="+mj-lt"/>
              <a:buAutoNum type="alphaLcParenR"/>
            </a:pPr>
            <a:r>
              <a:rPr lang="tr-TR" altLang="tr-TR" sz="2400" dirty="0"/>
              <a:t>53 D2</a:t>
            </a:r>
            <a:endParaRPr lang="tr-TR" altLang="tr-TR" sz="2800" dirty="0"/>
          </a:p>
          <a:p>
            <a:pPr marL="1009650" lvl="1" indent="-609600"/>
            <a:endParaRPr lang="tr-TR" altLang="tr-TR" sz="2400" dirty="0"/>
          </a:p>
        </p:txBody>
      </p:sp>
      <p:sp>
        <p:nvSpPr>
          <p:cNvPr id="16" name="Slayt Numarası Yer Tutucusu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2176B-0E47-46AC-8F43-DAB4B8A37D06}" type="slidenum">
              <a:rPr lang="tr-TR" smtClean="0"/>
              <a:t>16</a:t>
            </a:fld>
            <a:endParaRPr lang="tr-TR" dirty="0"/>
          </a:p>
        </p:txBody>
      </p:sp>
      <p:sp>
        <p:nvSpPr>
          <p:cNvPr id="3" name="Metin kutusu 2"/>
          <p:cNvSpPr txBox="1"/>
          <p:nvPr/>
        </p:nvSpPr>
        <p:spPr>
          <a:xfrm>
            <a:off x="457200" y="1172888"/>
            <a:ext cx="83632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/>
              <a:t>Aşağıdaki 16-bit </a:t>
            </a:r>
            <a:r>
              <a:rPr lang="tr-TR" i="1" dirty="0" err="1"/>
              <a:t>word-length</a:t>
            </a:r>
            <a:r>
              <a:rPr lang="tr-TR" dirty="0"/>
              <a:t> sayılar hem 2’ye tümleysen sayı, hem de işaretsiz sayı olarak yorumlanabilir. Her bir yoruma göre karşılık gelen </a:t>
            </a:r>
            <a:r>
              <a:rPr lang="tr-TR" dirty="0" err="1"/>
              <a:t>decimal</a:t>
            </a:r>
            <a:r>
              <a:rPr lang="tr-TR" dirty="0"/>
              <a:t> sayıları bulunuz.</a:t>
            </a:r>
          </a:p>
        </p:txBody>
      </p:sp>
    </p:spTree>
    <p:extLst>
      <p:ext uri="{BB962C8B-B14F-4D97-AF65-F5344CB8AC3E}">
        <p14:creationId xmlns:p14="http://schemas.microsoft.com/office/powerpoint/2010/main" val="3398958047"/>
      </p:ext>
    </p:extLst>
  </p:cSld>
  <p:clrMapOvr>
    <a:masterClrMapping/>
  </p:clrMapOvr>
</p:sld>
</file>

<file path=ppt/theme/theme1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2997</TotalTime>
  <Words>882</Words>
  <Application>Microsoft Office PowerPoint</Application>
  <PresentationFormat>Ekran Gösterisi (4:3)</PresentationFormat>
  <Paragraphs>142</Paragraphs>
  <Slides>16</Slides>
  <Notes>6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(Gövde)</vt:lpstr>
      <vt:lpstr>Cambria Math</vt:lpstr>
      <vt:lpstr>Wingdings</vt:lpstr>
      <vt:lpstr>Ofis Teması</vt:lpstr>
      <vt:lpstr>Lab1 Representing Data In a Computer</vt:lpstr>
      <vt:lpstr>Binary and Hex Numbers</vt:lpstr>
      <vt:lpstr>Binary and Hex Numbers</vt:lpstr>
      <vt:lpstr>Binary and Hex Numbers</vt:lpstr>
      <vt:lpstr>Binary and Hex Numbers</vt:lpstr>
      <vt:lpstr>Binary and Hex Numbers</vt:lpstr>
      <vt:lpstr>Binary and Hex Numbers</vt:lpstr>
      <vt:lpstr>Binary and Hex Numbers</vt:lpstr>
      <vt:lpstr>Unsigned and Signed Integers</vt:lpstr>
      <vt:lpstr>Unsigned and Signed Integers</vt:lpstr>
      <vt:lpstr>Unsigned and Signed Integers</vt:lpstr>
      <vt:lpstr>Unsigned and Signed Integers</vt:lpstr>
      <vt:lpstr>Unsigned and Signed Integers</vt:lpstr>
      <vt:lpstr>Unsigned and Signed Integers</vt:lpstr>
      <vt:lpstr>Unsigned and Signed Integers</vt:lpstr>
      <vt:lpstr>Unsigned and Signed Integers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80x86 MICROPROCESSOR</dc:title>
  <dc:creator>Erdem Yavuz</dc:creator>
  <cp:lastModifiedBy>HASİBE CANDAN</cp:lastModifiedBy>
  <cp:revision>196</cp:revision>
  <dcterms:created xsi:type="dcterms:W3CDTF">2016-01-30T21:23:46Z</dcterms:created>
  <dcterms:modified xsi:type="dcterms:W3CDTF">2025-10-26T20:05:14Z</dcterms:modified>
</cp:coreProperties>
</file>